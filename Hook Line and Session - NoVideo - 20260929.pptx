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30"/>
  </p:notesMasterIdLst>
  <p:sldIdLst>
    <p:sldId id="256" r:id="rId3"/>
    <p:sldId id="287" r:id="rId4"/>
    <p:sldId id="281" r:id="rId5"/>
    <p:sldId id="282" r:id="rId6"/>
    <p:sldId id="284" r:id="rId7"/>
    <p:sldId id="261" r:id="rId8"/>
    <p:sldId id="285" r:id="rId9"/>
    <p:sldId id="263" r:id="rId10"/>
    <p:sldId id="288" r:id="rId11"/>
    <p:sldId id="265" r:id="rId12"/>
    <p:sldId id="277" r:id="rId13"/>
    <p:sldId id="290" r:id="rId14"/>
    <p:sldId id="264" r:id="rId15"/>
    <p:sldId id="266" r:id="rId16"/>
    <p:sldId id="286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8" r:id="rId27"/>
    <p:sldId id="279" r:id="rId28"/>
    <p:sldId id="28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9C1"/>
    <a:srgbClr val="C8E22D"/>
    <a:srgbClr val="1B1A1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11" autoAdjust="0"/>
    <p:restoredTop sz="94640"/>
  </p:normalViewPr>
  <p:slideViewPr>
    <p:cSldViewPr snapToGrid="0">
      <p:cViewPr varScale="1">
        <p:scale>
          <a:sx n="107" d="100"/>
          <a:sy n="107" d="100"/>
        </p:scale>
        <p:origin x="9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Identity policy &amp; insider risk</c:v>
          </c:tx>
          <c:spPr>
            <a:solidFill>
              <a:srgbClr val="10120F"/>
            </a:solidFill>
            <a:ln w="0">
              <a:noFill/>
            </a:ln>
          </c:spPr>
          <c:invertIfNegative val="1"/>
          <c:cat>
            <c:strRef>
              <c:f>'Chart Data'!$A$2:$A$2</c:f>
              <c:strCache>
                <c:ptCount val="1"/>
                <c:pt idx="0">
                  <c:v>Identity policy &amp; insider risk</c:v>
                </c:pt>
              </c:strCache>
            </c:strRef>
          </c:cat>
          <c:val>
            <c:numRef>
              <c:f>'Chart Data'!$B$2:$B$2</c:f>
              <c:numCache>
                <c:formatCode>0%</c:formatCode>
                <c:ptCount val="1"/>
                <c:pt idx="0">
                  <c:v>0.11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774-424B-90C4-442ACF2818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5"/>
          <c:min val="0"/>
        </c:scaling>
        <c:delete val="0"/>
        <c:axPos val="b"/>
        <c:numFmt formatCode="0%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Credential misuse &amp; brute force</c:v>
          </c:tx>
          <c:spPr>
            <a:solidFill>
              <a:srgbClr val="10120F"/>
            </a:solidFill>
            <a:ln w="0">
              <a:noFill/>
            </a:ln>
          </c:spPr>
          <c:invertIfNegative val="1"/>
          <c:cat>
            <c:strRef>
              <c:f>'Chart Data'!$A$2:$A$2</c:f>
              <c:strCache>
                <c:ptCount val="1"/>
                <c:pt idx="0">
                  <c:v>Credential misuse &amp; brute force</c:v>
                </c:pt>
              </c:strCache>
            </c:strRef>
          </c:cat>
          <c:val>
            <c:numRef>
              <c:f>'Chart Data'!$B$2:$B$2</c:f>
              <c:numCache>
                <c:formatCode>0%</c:formatCode>
                <c:ptCount val="1"/>
                <c:pt idx="0">
                  <c:v>0.21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6CF-1946-8EA6-3AB8A999D4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5"/>
          <c:min val="0"/>
        </c:scaling>
        <c:delete val="0"/>
        <c:axPos val="b"/>
        <c:numFmt formatCode="0%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Identity based Phishing and SE</c:v>
          </c:tx>
          <c:spPr>
            <a:solidFill>
              <a:srgbClr val="10120F"/>
            </a:solidFill>
            <a:ln w="0">
              <a:noFill/>
            </a:ln>
          </c:spPr>
          <c:invertIfNegative val="1"/>
          <c:cat>
            <c:strRef>
              <c:f>'Chart Data'!$A$2:$A$2</c:f>
              <c:strCache>
                <c:ptCount val="1"/>
                <c:pt idx="0">
                  <c:v>Identity based Phishing and SE</c:v>
                </c:pt>
              </c:strCache>
            </c:strRef>
          </c:cat>
          <c:val>
            <c:numRef>
              <c:f>'Chart Data'!$B$2:$B$2</c:f>
              <c:numCache>
                <c:formatCode>0%</c:formatCode>
                <c:ptCount val="1"/>
                <c:pt idx="0">
                  <c:v>0.33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BF5-7448-BBBE-AB80295A49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5"/>
          <c:min val="0"/>
        </c:scaling>
        <c:delete val="0"/>
        <c:axPos val="b"/>
        <c:numFmt formatCode="0%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6:30:59.1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6:30:59.8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30T16:31:00.53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2CF2-12B7-A88F-0EE2-1B5C009F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4EB35-5BC7-8AE7-87FE-BE4B95AFF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C01C8-CF41-7B63-F88D-B4DE54EAC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97E5D-ED70-21B8-50EC-BA5D1130A2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2876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7A436-1E07-5426-B7E9-8D34179C5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8D99E-5F1F-8A18-2370-96F937456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D05B8-8127-BD33-B32E-EA4B49DC3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25DF2-FE66-3EFE-8372-E1C000B6E07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7489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52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68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30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ustomXml" Target="../ink/ink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17E77CA-49A1-7194-0C34-3AB6EECE0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8" b="3133"/>
          <a:stretch>
            <a:fillRect/>
          </a:stretch>
        </p:blipFill>
        <p:spPr>
          <a:xfrm>
            <a:off x="6181727" y="0"/>
            <a:ext cx="5905500" cy="6858000"/>
          </a:xfrm>
          <a:prstGeom prst="rect">
            <a:avLst/>
          </a:prstGeom>
        </p:spPr>
      </p:pic>
      <p:sp>
        <p:nvSpPr>
          <p:cNvPr id="2" name="content-1-1">
            <a:extLst>
              <a:ext uri="{FF2B5EF4-FFF2-40B4-BE49-F238E27FC236}">
                <a16:creationId xmlns:a16="http://schemas.microsoft.com/office/drawing/2014/main" id="{FA8BD649-59EC-4DA6-8F12-6704F947210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5476875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187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Navigating </a:t>
            </a:r>
            <a:r>
              <a:rPr sz="1875" b="0" i="0" dirty="0" err="1">
                <a:solidFill>
                  <a:srgbClr val="F4F3ED"/>
                </a:solidFill>
                <a:latin typeface="Arial"/>
                <a:ea typeface="Arial"/>
                <a:cs typeface="Arial"/>
              </a:rPr>
              <a:t>AiTM</a:t>
            </a:r>
            <a:r>
              <a:rPr sz="187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 and</a:t>
            </a:r>
          </a:p>
          <a:p>
            <a:pPr algn="l">
              <a:defRPr sz="187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187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Device Code Phishing</a:t>
            </a:r>
          </a:p>
          <a:p>
            <a:pPr algn="l">
              <a:defRPr sz="187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187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Attacks in Entra ID</a:t>
            </a:r>
          </a:p>
        </p:txBody>
      </p:sp>
      <p:sp>
        <p:nvSpPr>
          <p:cNvPr id="3" name="content-1-2">
            <a:extLst>
              <a:ext uri="{FF2B5EF4-FFF2-40B4-BE49-F238E27FC236}">
                <a16:creationId xmlns:a16="http://schemas.microsoft.com/office/drawing/2014/main" id="{FF8C5A21-9617-4301-9B18-7BFDCACDE427}"/>
              </a:ext>
            </a:extLst>
          </p:cNvPr>
          <p:cNvSpPr>
            <a:spLocks noGrp="1"/>
          </p:cNvSpPr>
          <p:nvPr/>
        </p:nvSpPr>
        <p:spPr>
          <a:xfrm>
            <a:off x="476250" y="1580322"/>
            <a:ext cx="5905500" cy="1685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75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9375" b="0" i="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HOOK,</a:t>
            </a:r>
          </a:p>
        </p:txBody>
      </p:sp>
      <p:sp>
        <p:nvSpPr>
          <p:cNvPr id="4" name="content-1-3">
            <a:extLst>
              <a:ext uri="{FF2B5EF4-FFF2-40B4-BE49-F238E27FC236}">
                <a16:creationId xmlns:a16="http://schemas.microsoft.com/office/drawing/2014/main" id="{4DD2FCBA-C837-4C04-9947-4382770941E1}"/>
              </a:ext>
            </a:extLst>
          </p:cNvPr>
          <p:cNvSpPr>
            <a:spLocks noGrp="1"/>
          </p:cNvSpPr>
          <p:nvPr/>
        </p:nvSpPr>
        <p:spPr>
          <a:xfrm>
            <a:off x="476250" y="2742372"/>
            <a:ext cx="5905500" cy="1685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375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9375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LINE,</a:t>
            </a:r>
          </a:p>
        </p:txBody>
      </p:sp>
      <p:sp>
        <p:nvSpPr>
          <p:cNvPr id="5" name="content-1-4">
            <a:extLst>
              <a:ext uri="{FF2B5EF4-FFF2-40B4-BE49-F238E27FC236}">
                <a16:creationId xmlns:a16="http://schemas.microsoft.com/office/drawing/2014/main" id="{7B81B871-1AA9-4D11-B39C-52663A9F3ECC}"/>
              </a:ext>
            </a:extLst>
          </p:cNvPr>
          <p:cNvSpPr>
            <a:spLocks noGrp="1"/>
          </p:cNvSpPr>
          <p:nvPr/>
        </p:nvSpPr>
        <p:spPr>
          <a:xfrm>
            <a:off x="476250" y="4123497"/>
            <a:ext cx="6000750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925" b="0" i="0">
                <a:solidFill>
                  <a:srgbClr val="D9FF43"/>
                </a:solidFill>
                <a:latin typeface="Arial Black"/>
                <a:ea typeface="Arial Black"/>
                <a:cs typeface="Arial Black"/>
              </a:defRPr>
            </a:pPr>
            <a:r>
              <a:rPr sz="5925" b="0" i="0" dirty="0">
                <a:solidFill>
                  <a:srgbClr val="D9FF43"/>
                </a:solidFill>
                <a:latin typeface="Arial Black"/>
                <a:ea typeface="Arial Black"/>
                <a:cs typeface="Arial Black"/>
              </a:rPr>
              <a:t>&amp; SESSION</a:t>
            </a:r>
          </a:p>
        </p:txBody>
      </p:sp>
      <p:sp>
        <p:nvSpPr>
          <p:cNvPr id="7" name="content-1-5">
            <a:extLst>
              <a:ext uri="{FF2B5EF4-FFF2-40B4-BE49-F238E27FC236}">
                <a16:creationId xmlns:a16="http://schemas.microsoft.com/office/drawing/2014/main" id="{3EC31D22-1822-4054-A4CD-4139F2086491}"/>
              </a:ext>
            </a:extLst>
          </p:cNvPr>
          <p:cNvSpPr>
            <a:spLocks noGrp="1"/>
          </p:cNvSpPr>
          <p:nvPr/>
        </p:nvSpPr>
        <p:spPr>
          <a:xfrm>
            <a:off x="533400" y="5101465"/>
            <a:ext cx="5000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D9FF43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D9FF43"/>
                </a:solidFill>
                <a:latin typeface="Arial"/>
                <a:ea typeface="Arial"/>
                <a:cs typeface="Arial"/>
              </a:rPr>
              <a:t>JOHN LAFFERTY</a:t>
            </a:r>
          </a:p>
        </p:txBody>
      </p:sp>
      <p:sp>
        <p:nvSpPr>
          <p:cNvPr id="8" name="content-1-6">
            <a:extLst>
              <a:ext uri="{FF2B5EF4-FFF2-40B4-BE49-F238E27FC236}">
                <a16:creationId xmlns:a16="http://schemas.microsoft.com/office/drawing/2014/main" id="{C2F3F108-CC9D-481A-8015-5D87FEFD0CA0}"/>
              </a:ext>
            </a:extLst>
          </p:cNvPr>
          <p:cNvSpPr>
            <a:spLocks noGrp="1"/>
          </p:cNvSpPr>
          <p:nvPr/>
        </p:nvSpPr>
        <p:spPr>
          <a:xfrm>
            <a:off x="533400" y="5374415"/>
            <a:ext cx="50006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4F3ED"/>
                </a:solidFill>
                <a:latin typeface="Arial"/>
                <a:ea typeface="Arial"/>
                <a:cs typeface="Arial"/>
              </a:rPr>
              <a:t>Systems Engineer – Vandalia Health</a:t>
            </a:r>
          </a:p>
        </p:txBody>
      </p:sp>
      <p:sp>
        <p:nvSpPr>
          <p:cNvPr id="9" name="content-1-7">
            <a:extLst>
              <a:ext uri="{FF2B5EF4-FFF2-40B4-BE49-F238E27FC236}">
                <a16:creationId xmlns:a16="http://schemas.microsoft.com/office/drawing/2014/main" id="{FA83BA37-6415-4F34-9040-141F72224ED6}"/>
              </a:ext>
            </a:extLst>
          </p:cNvPr>
          <p:cNvSpPr>
            <a:spLocks noGrp="1"/>
          </p:cNvSpPr>
          <p:nvPr/>
        </p:nvSpPr>
        <p:spPr>
          <a:xfrm>
            <a:off x="533400" y="5824550"/>
            <a:ext cx="52959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D9FF43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D9FF43"/>
                </a:solidFill>
                <a:latin typeface="Arial"/>
                <a:ea typeface="Arial"/>
                <a:cs typeface="Arial"/>
              </a:rPr>
              <a:t>NATHAN HESS</a:t>
            </a:r>
          </a:p>
        </p:txBody>
      </p:sp>
      <p:sp>
        <p:nvSpPr>
          <p:cNvPr id="10" name="content-1-8">
            <a:extLst>
              <a:ext uri="{FF2B5EF4-FFF2-40B4-BE49-F238E27FC236}">
                <a16:creationId xmlns:a16="http://schemas.microsoft.com/office/drawing/2014/main" id="{7B0C54CE-D851-4BAF-AAED-B14974A21074}"/>
              </a:ext>
            </a:extLst>
          </p:cNvPr>
          <p:cNvSpPr>
            <a:spLocks noGrp="1"/>
          </p:cNvSpPr>
          <p:nvPr/>
        </p:nvSpPr>
        <p:spPr>
          <a:xfrm>
            <a:off x="533400" y="6119520"/>
            <a:ext cx="5295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1500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Information Security Specialist – Vandalia Health</a:t>
            </a:r>
          </a:p>
        </p:txBody>
      </p:sp>
    </p:spTree>
    <p:extLst>
      <p:ext uri="{BB962C8B-B14F-4D97-AF65-F5344CB8AC3E}">
        <p14:creationId xmlns:p14="http://schemas.microsoft.com/office/powerpoint/2010/main" val="1778615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CREW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Who is walking you through the session.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440680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5528" y="1298448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11111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5528" y="12984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D4FF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5528" y="17556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5528" y="21214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LAFFERTY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5528" y="2578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manages the identity stack.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5528" y="2999232"/>
            <a:ext cx="1097280" cy="64008"/>
          </a:xfrm>
          <a:prstGeom prst="rect">
            <a:avLst/>
          </a:prstGeom>
          <a:solidFill>
            <a:srgbClr val="D4FF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5528" y="321868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0+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5528" y="4133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5528" y="457200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FEC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5528" y="4572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B.S. Computer Science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64408" y="457200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FEC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4408" y="4572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Azure Administrator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5528" y="4992624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FEC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5528" y="4992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AWS Cloud Admin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45352" y="1078992"/>
            <a:ext cx="5440680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37960" y="1298448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11111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37960" y="12984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D4FF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37960" y="17556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NATHAN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37960" y="21214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HESS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37960" y="2578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Secures and monitors the same stack.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37960" y="2999232"/>
            <a:ext cx="1097280" cy="64008"/>
          </a:xfrm>
          <a:prstGeom prst="rect">
            <a:avLst/>
          </a:prstGeom>
          <a:solidFill>
            <a:srgbClr val="D4FF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960" y="321868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37960" y="4133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5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37960" y="457200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FEC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37960" y="4572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M.S. Cybersecurity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006840" y="457200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FEC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006840" y="4572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ISC2 SSCP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37960" y="4992624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FEC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37960" y="4992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CySA+  ·  ISC-360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006840" y="4992624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FEC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06840" y="4992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AZ-900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4716FA10-EBE1-350C-5A01-12E6A5A4C334}"/>
              </a:ext>
            </a:extLst>
          </p:cNvPr>
          <p:cNvSpPr/>
          <p:nvPr/>
        </p:nvSpPr>
        <p:spPr>
          <a:xfrm>
            <a:off x="3264408" y="499872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FECE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389B8BF5-CC73-2F04-B1FE-8698A256C668}"/>
              </a:ext>
            </a:extLst>
          </p:cNvPr>
          <p:cNvSpPr/>
          <p:nvPr/>
        </p:nvSpPr>
        <p:spPr>
          <a:xfrm>
            <a:off x="3264408" y="49926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121212"/>
                </a:solidFill>
                <a:latin typeface="Arial" pitchFamily="34" charset="0"/>
                <a:cs typeface="Arial" pitchFamily="34" charset="-120"/>
              </a:rPr>
              <a:t>Active Directory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2">
            <a:extLst>
              <a:ext uri="{FF2B5EF4-FFF2-40B4-BE49-F238E27FC236}">
                <a16:creationId xmlns:a16="http://schemas.microsoft.com/office/drawing/2014/main" id="{EB2F516D-1FF3-530D-D66E-E1DE26A90FAA}"/>
              </a:ext>
            </a:extLst>
          </p:cNvPr>
          <p:cNvSpPr/>
          <p:nvPr/>
        </p:nvSpPr>
        <p:spPr>
          <a:xfrm>
            <a:off x="9006840" y="5413248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FECE6"/>
          </a:solidFill>
          <a:ln/>
        </p:spPr>
        <p:txBody>
          <a:bodyPr/>
          <a:lstStyle/>
          <a:p>
            <a:pPr lvl="0" algn="ctr"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21212"/>
                </a:solidFill>
                <a:effectLst/>
                <a:uLnTx/>
                <a:uFillTx/>
                <a:latin typeface="Arial" pitchFamily="34" charset="0"/>
                <a:cs typeface="Arial" pitchFamily="34" charset="-120"/>
              </a:rPr>
              <a:t>SC-300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AB1E1EBA-C3E2-4E7E-F731-3A7B2521E332}"/>
              </a:ext>
            </a:extLst>
          </p:cNvPr>
          <p:cNvSpPr/>
          <p:nvPr/>
        </p:nvSpPr>
        <p:spPr>
          <a:xfrm>
            <a:off x="795528" y="5413248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FECE6"/>
          </a:solidFill>
          <a:ln/>
        </p:spPr>
        <p:txBody>
          <a:bodyPr/>
          <a:lstStyle/>
          <a:p>
            <a:pPr algn="ctr">
              <a:defRPr/>
            </a:pPr>
            <a:r>
              <a:rPr lang="en-US" sz="1100" b="1" dirty="0">
                <a:solidFill>
                  <a:srgbClr val="1212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Automation Scripting</a:t>
            </a:r>
            <a:endParaRPr lang="en-US" sz="11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11786616" cy="6528816"/>
          </a:xfrm>
          <a:prstGeom prst="roundRect">
            <a:avLst>
              <a:gd name="adj" fmla="val 560"/>
            </a:avLst>
          </a:prstGeom>
          <a:solidFill>
            <a:srgbClr val="F3F1EC"/>
          </a:solidFill>
          <a:ln w="12700">
            <a:solidFill>
              <a:srgbClr val="E6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164592"/>
            <a:ext cx="4709160" cy="652881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5029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Posture of Entra ID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" y="187452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75488" y="2542032"/>
            <a:ext cx="4160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F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PROTECTED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75488" y="34564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CHECK  ≠  GREEN LIGHT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50749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Defaults is a starting lock.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hardening program.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38928" y="438912"/>
            <a:ext cx="6565392" cy="5980176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workdir/artifacts/tenant-defaults-comi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5232" y="585216"/>
            <a:ext cx="6272784" cy="5687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DEFAULTS  ≠  SECURE BY DEFAULT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on/off switch. Useful baseline. Not a control plane.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548640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91056"/>
            <a:ext cx="2148840" cy="329184"/>
          </a:xfrm>
          <a:prstGeom prst="roundRect">
            <a:avLst>
              <a:gd name="adj" fmla="val 16667"/>
            </a:avLst>
          </a:prstGeom>
          <a:solidFill>
            <a:srgbClr val="E7F4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 ·  FREE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933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Defaults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9808" y="2542032"/>
            <a:ext cx="256032" cy="256032"/>
          </a:xfrm>
          <a:prstGeom prst="ellipse">
            <a:avLst/>
          </a:prstGeom>
          <a:solidFill>
            <a:srgbClr val="E7F4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25237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3856" y="24871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3856" y="27432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has to enroll an authenticator.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3291840"/>
            <a:ext cx="256032" cy="256032"/>
          </a:xfrm>
          <a:prstGeom prst="ellipse">
            <a:avLst/>
          </a:prstGeom>
          <a:solidFill>
            <a:srgbClr val="E7F4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2735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3856" y="323697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MFA every sign-in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3856" y="349300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roles get challenged every time.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4041648"/>
            <a:ext cx="256032" cy="256032"/>
          </a:xfrm>
          <a:prstGeom prst="ellipse">
            <a:avLst/>
          </a:prstGeom>
          <a:solidFill>
            <a:srgbClr val="E7F4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3856" y="39867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auth blocked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42428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/ POP / SMTP AUTH and old clients die.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4791456"/>
            <a:ext cx="256032" cy="256032"/>
          </a:xfrm>
          <a:prstGeom prst="ellipse">
            <a:avLst/>
          </a:prstGeom>
          <a:solidFill>
            <a:srgbClr val="E7F4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4773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3856" y="47365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portal MFA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3856" y="49926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Manager and admin portals require MFA.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1389888"/>
            <a:ext cx="548640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82512" y="1591056"/>
            <a:ext cx="2880360" cy="329184"/>
          </a:xfrm>
          <a:prstGeom prst="roundRect">
            <a:avLst>
              <a:gd name="adj" fmla="val 16667"/>
            </a:avLst>
          </a:prstGeom>
          <a:solidFill>
            <a:srgbClr val="F8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82512" y="159105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 ·  NEEDS 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82512" y="19933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switch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446520" y="2542032"/>
            <a:ext cx="256032" cy="256032"/>
          </a:xfrm>
          <a:prstGeom prst="ellipse">
            <a:avLst/>
          </a:prstGeom>
          <a:solidFill>
            <a:srgbClr val="F8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25237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30568" y="24871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&amp; token control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830568" y="27432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sign-in frequency or persistent-session policy.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46520" y="3291840"/>
            <a:ext cx="256032" cy="256032"/>
          </a:xfrm>
          <a:prstGeom prst="ellipse">
            <a:avLst/>
          </a:prstGeom>
          <a:solidFill>
            <a:srgbClr val="F8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46520" y="32735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30568" y="323697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Location, device, app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30568" y="349300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locations, compliant device, or app targeting.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46520" y="4041648"/>
            <a:ext cx="256032" cy="256032"/>
          </a:xfrm>
          <a:prstGeom prst="ellipse">
            <a:avLst/>
          </a:prstGeom>
          <a:solidFill>
            <a:srgbClr val="F8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4023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30568" y="39867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exceptions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830568" y="424281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 Protection policies, guests, or break-glass paths.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46520" y="4791456"/>
            <a:ext cx="256032" cy="256032"/>
          </a:xfrm>
          <a:prstGeom prst="ellipse">
            <a:avLst/>
          </a:prstGeom>
          <a:solidFill>
            <a:srgbClr val="F8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46520" y="477316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30568" y="473659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strength &amp; guests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30568" y="499262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phishing-resistant MFA requirement or guest rules.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02920" y="587044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5800" y="58704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and Conditional Access cannot run together.  If you have Entra ID P1/P2, disable Defaults and replace the baseline with CA — then add location, device, session, and risk.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8252DC4-F6F8-C0D7-51D1-F495DD4AA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942" y="932688"/>
            <a:ext cx="3269515" cy="32695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3338ED-C0C3-730F-AB8D-3AB576A35D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260" y="806832"/>
            <a:ext cx="3564000" cy="3564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20" normalizeH="0" baseline="0" noProof="0" dirty="0">
                <a:ln>
                  <a:noFill/>
                </a:ln>
                <a:solidFill>
                  <a:srgbClr val="D4FF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TWO IDENTITY-DRIVEN ATTACKS DEFAULTS DO NOT STOP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MFA can succeed. The attacker can still leave with the session.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2"/>
          <p:cNvSpPr/>
          <p:nvPr/>
        </p:nvSpPr>
        <p:spPr>
          <a:xfrm>
            <a:off x="502920" y="437083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FF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Adversary-in-the-Middle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502920" y="4773168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phishing proxy relays the real sign-in and steals the password plus the session cookie. Defaults have no token protection.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6245352" y="437083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FF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Device Code Phishing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6245352" y="4773168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an attacker-generated code on a real Microsoft page. The token is issued to the attacker’s device. Defaults are not a CA policy you can tune.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2920" y="598932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Defaults register a method and challenge some sign-ins. They do not bind the cookie or stop these two paths.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FF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6-1">
            <a:extLst>
              <a:ext uri="{FF2B5EF4-FFF2-40B4-BE49-F238E27FC236}">
                <a16:creationId xmlns:a16="http://schemas.microsoft.com/office/drawing/2014/main" id="{D463AE5A-D3C6-47DE-BAE1-AA255BA8D7C5}"/>
              </a:ext>
            </a:extLst>
          </p:cNvPr>
          <p:cNvSpPr>
            <a:spLocks noGrp="1"/>
          </p:cNvSpPr>
          <p:nvPr/>
        </p:nvSpPr>
        <p:spPr>
          <a:xfrm>
            <a:off x="533400" y="530086"/>
            <a:ext cx="5267325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15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IDENTITY-DRIVEN</a:t>
            </a:r>
          </a:p>
          <a:p>
            <a:pPr algn="l">
              <a:defRPr sz="315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15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INITIAL ACCESS</a:t>
            </a:r>
          </a:p>
        </p:txBody>
      </p:sp>
      <p:sp>
        <p:nvSpPr>
          <p:cNvPr id="2" name="content-6-2">
            <a:extLst>
              <a:ext uri="{FF2B5EF4-FFF2-40B4-BE49-F238E27FC236}">
                <a16:creationId xmlns:a16="http://schemas.microsoft.com/office/drawing/2014/main" id="{8F8A030D-2487-46D3-B829-98D5BF16567E}"/>
              </a:ext>
            </a:extLst>
          </p:cNvPr>
          <p:cNvSpPr>
            <a:spLocks noGrp="1"/>
          </p:cNvSpPr>
          <p:nvPr/>
        </p:nvSpPr>
        <p:spPr>
          <a:xfrm>
            <a:off x="762000" y="2850874"/>
            <a:ext cx="5334000" cy="2733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1200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65%</a:t>
            </a:r>
          </a:p>
        </p:txBody>
      </p:sp>
      <p:sp>
        <p:nvSpPr>
          <p:cNvPr id="3" name="content-6-3">
            <a:extLst>
              <a:ext uri="{FF2B5EF4-FFF2-40B4-BE49-F238E27FC236}">
                <a16:creationId xmlns:a16="http://schemas.microsoft.com/office/drawing/2014/main" id="{E69A0881-C2CC-4423-AAE6-B797989ABE78}"/>
              </a:ext>
            </a:extLst>
          </p:cNvPr>
          <p:cNvSpPr>
            <a:spLocks noGrp="1"/>
          </p:cNvSpPr>
          <p:nvPr/>
        </p:nvSpPr>
        <p:spPr>
          <a:xfrm>
            <a:off x="5136237" y="1756999"/>
            <a:ext cx="6128302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800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Identity policy &amp; insider risk – 11%</a:t>
            </a:r>
          </a:p>
        </p:txBody>
      </p:sp>
      <p:graphicFrame>
        <p:nvGraphicFramePr>
          <p:cNvPr id="13" name="Chart"/>
          <p:cNvGraphicFramePr/>
          <p:nvPr>
            <p:extLst>
              <p:ext uri="{D42A27DB-BD31-4B8C-83A1-F6EECF244321}">
                <p14:modId xmlns:p14="http://schemas.microsoft.com/office/powerpoint/2010/main" val="3443719319"/>
              </p:ext>
            </p:extLst>
          </p:nvPr>
        </p:nvGraphicFramePr>
        <p:xfrm>
          <a:off x="5002886" y="2122158"/>
          <a:ext cx="5400675" cy="581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-6-4">
            <a:extLst>
              <a:ext uri="{FF2B5EF4-FFF2-40B4-BE49-F238E27FC236}">
                <a16:creationId xmlns:a16="http://schemas.microsoft.com/office/drawing/2014/main" id="{7D9FC506-4A7C-494B-A3C3-07538706329C}"/>
              </a:ext>
            </a:extLst>
          </p:cNvPr>
          <p:cNvSpPr>
            <a:spLocks noGrp="1"/>
          </p:cNvSpPr>
          <p:nvPr/>
        </p:nvSpPr>
        <p:spPr>
          <a:xfrm>
            <a:off x="5136237" y="3104475"/>
            <a:ext cx="7449378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800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Credential misuse &amp; brute force – 21%</a:t>
            </a:r>
          </a:p>
        </p:txBody>
      </p:sp>
      <p:graphicFrame>
        <p:nvGraphicFramePr>
          <p:cNvPr id="15" name="Chart"/>
          <p:cNvGraphicFramePr/>
          <p:nvPr>
            <p:extLst>
              <p:ext uri="{D42A27DB-BD31-4B8C-83A1-F6EECF244321}">
                <p14:modId xmlns:p14="http://schemas.microsoft.com/office/powerpoint/2010/main" val="498248148"/>
              </p:ext>
            </p:extLst>
          </p:nvPr>
        </p:nvGraphicFramePr>
        <p:xfrm>
          <a:off x="5012412" y="3475744"/>
          <a:ext cx="5400675" cy="581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content-6-5">
            <a:extLst>
              <a:ext uri="{FF2B5EF4-FFF2-40B4-BE49-F238E27FC236}">
                <a16:creationId xmlns:a16="http://schemas.microsoft.com/office/drawing/2014/main" id="{403F815E-A230-4E54-AFC1-5CA8F8D53E05}"/>
              </a:ext>
            </a:extLst>
          </p:cNvPr>
          <p:cNvSpPr>
            <a:spLocks noGrp="1"/>
          </p:cNvSpPr>
          <p:nvPr/>
        </p:nvSpPr>
        <p:spPr>
          <a:xfrm>
            <a:off x="5136238" y="4417271"/>
            <a:ext cx="6853182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800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Identity based Phishing and SE – 33%</a:t>
            </a:r>
          </a:p>
        </p:txBody>
      </p:sp>
      <p:graphicFrame>
        <p:nvGraphicFramePr>
          <p:cNvPr id="17" name="Chart"/>
          <p:cNvGraphicFramePr/>
          <p:nvPr>
            <p:extLst>
              <p:ext uri="{D42A27DB-BD31-4B8C-83A1-F6EECF244321}">
                <p14:modId xmlns:p14="http://schemas.microsoft.com/office/powerpoint/2010/main" val="2826005065"/>
              </p:ext>
            </p:extLst>
          </p:nvPr>
        </p:nvGraphicFramePr>
        <p:xfrm>
          <a:off x="5002887" y="4736151"/>
          <a:ext cx="5400675" cy="581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content-6-6">
            <a:extLst>
              <a:ext uri="{FF2B5EF4-FFF2-40B4-BE49-F238E27FC236}">
                <a16:creationId xmlns:a16="http://schemas.microsoft.com/office/drawing/2014/main" id="{0EA88318-DCCD-429D-94F7-33A187BEC606}"/>
              </a:ext>
            </a:extLst>
          </p:cNvPr>
          <p:cNvSpPr>
            <a:spLocks noGrp="1"/>
          </p:cNvSpPr>
          <p:nvPr/>
        </p:nvSpPr>
        <p:spPr>
          <a:xfrm>
            <a:off x="533400" y="6153564"/>
            <a:ext cx="11125200" cy="13616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66B61"/>
                </a:solidFill>
                <a:latin typeface="Arial"/>
                <a:ea typeface="Arial"/>
                <a:cs typeface="Arial"/>
              </a:defRPr>
            </a:pPr>
            <a:r>
              <a:rPr sz="2400" b="0" i="0" dirty="0">
                <a:solidFill>
                  <a:srgbClr val="666B61"/>
                </a:solidFill>
                <a:latin typeface="Arial"/>
                <a:ea typeface="Arial"/>
                <a:cs typeface="Arial"/>
              </a:rPr>
              <a:t>Source: Palo Alto Unit42</a:t>
            </a:r>
          </a:p>
        </p:txBody>
      </p:sp>
    </p:spTree>
    <p:extLst>
      <p:ext uri="{BB962C8B-B14F-4D97-AF65-F5344CB8AC3E}">
        <p14:creationId xmlns:p14="http://schemas.microsoft.com/office/powerpoint/2010/main" val="41091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4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AiTM DID NOT STAY RARE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From first disclosure to a three-day industrial wave.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4709160" cy="4828032"/>
          </a:xfrm>
          <a:prstGeom prst="roundRect">
            <a:avLst>
              <a:gd name="adj" fmla="val 1553"/>
            </a:avLst>
          </a:prstGeom>
          <a:solidFill>
            <a:srgbClr val="11111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" y="13350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20" normalizeH="0" baseline="0" noProof="0" dirty="0">
                <a:ln>
                  <a:noFill/>
                </a:ln>
                <a:solidFill>
                  <a:srgbClr val="C8E22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3232" y="175564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35,000</a:t>
            </a:r>
            <a:endParaRPr kumimoji="0" lang="en-US" sz="6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2816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users targeted in 3 days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3232" y="33101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13,000 organizations  ·  26 countries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the largest vertical at 19%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3232" y="4114800"/>
            <a:ext cx="1051560" cy="64008"/>
          </a:xfrm>
          <a:prstGeom prst="rect">
            <a:avLst/>
          </a:prstGeom>
          <a:solidFill>
            <a:srgbClr val="C8E2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4315968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8E2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Code-of-conduct lures.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 Microsoft sign-in proxied. Session cookie stolen. MFA completed and still lost.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94960" y="1115568"/>
            <a:ext cx="3108960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96128" y="126187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6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2021 – 2022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96128" y="1517904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596128" y="208483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orgs targeted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96128" y="2377440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First large Microsoft AiTM campaign disclosed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41080" y="1115568"/>
            <a:ext cx="3108960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842248" y="126187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6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42248" y="1517904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10,000+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42248" y="208483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attacks / month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42248" y="2377440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Reported run-rate against Microsoft users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94960" y="3145536"/>
            <a:ext cx="3108960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96128" y="329184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6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Jul 23 – Jun 24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96128" y="3547872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+146%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596128" y="411480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year over year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596128" y="440740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Digital Defense Report 2024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641080" y="3145536"/>
            <a:ext cx="3108960" cy="1883664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842248" y="329184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6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H2 25 – Q1 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42248" y="3547872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+139%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842248" y="411480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in six months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42248" y="4407408"/>
            <a:ext cx="2706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KnowBe4: reverse-proxy / AiTM kits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610819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Sources: Microsoft 2022 AiTM disclosure; Digital Defense Report 2024; Apr 2026 campaign (14–16 Apr); KnowBe4 Phishing Threat Trends Vol. 7 via PhishEye 2026.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-8-1">
            <a:extLst>
              <a:ext uri="{FF2B5EF4-FFF2-40B4-BE49-F238E27FC236}">
                <a16:creationId xmlns:a16="http://schemas.microsoft.com/office/drawing/2014/main" id="{89FA3534-CA52-45E7-B2A0-0A0922EA3AC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11633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lang="en-US" sz="2400" b="0" i="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2026 Code of Conduct Campaign</a:t>
            </a:r>
            <a:endParaRPr sz="2400" b="0" i="0" dirty="0">
              <a:solidFill>
                <a:srgbClr val="F4F3ED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3" name="content-8-2">
            <a:extLst>
              <a:ext uri="{FF2B5EF4-FFF2-40B4-BE49-F238E27FC236}">
                <a16:creationId xmlns:a16="http://schemas.microsoft.com/office/drawing/2014/main" id="{506E040C-52E3-49FE-A59A-E03A36395699}"/>
              </a:ext>
            </a:extLst>
          </p:cNvPr>
          <p:cNvSpPr>
            <a:spLocks noGrp="1"/>
          </p:cNvSpPr>
          <p:nvPr/>
        </p:nvSpPr>
        <p:spPr>
          <a:xfrm>
            <a:off x="73231" y="6611184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B7BDB2"/>
                </a:solidFill>
                <a:latin typeface="Arial"/>
                <a:ea typeface="Arial"/>
                <a:cs typeface="Arial"/>
              </a:defRPr>
            </a:pPr>
            <a:r>
              <a:rPr sz="1200" b="0" i="0" dirty="0">
                <a:solidFill>
                  <a:srgbClr val="B7BDB2"/>
                </a:solidFill>
                <a:latin typeface="Arial"/>
                <a:ea typeface="Arial"/>
                <a:cs typeface="Arial"/>
              </a:rPr>
              <a:t>Source: Microsoft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4D3A78-FD44-0930-C338-1148D0A97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2"/>
          <a:stretch>
            <a:fillRect/>
          </a:stretch>
        </p:blipFill>
        <p:spPr>
          <a:xfrm>
            <a:off x="1591293" y="900835"/>
            <a:ext cx="9334005" cy="571034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D2EFC1-EA7F-9A7A-544E-DF4C3CCCF1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7559">
            <a:off x="6351879" y="4627957"/>
            <a:ext cx="4955352" cy="179025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31B207E-6AC4-7AE9-B1D9-FF1381E9F1ED}"/>
              </a:ext>
            </a:extLst>
          </p:cNvPr>
          <p:cNvGrpSpPr/>
          <p:nvPr/>
        </p:nvGrpSpPr>
        <p:grpSpPr>
          <a:xfrm>
            <a:off x="8840282" y="5388246"/>
            <a:ext cx="43920" cy="39960"/>
            <a:chOff x="8840282" y="5388246"/>
            <a:chExt cx="4392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10EA975-4475-2CC2-A54F-ADC2DCD42E37}"/>
                    </a:ext>
                  </a:extLst>
                </p14:cNvPr>
                <p14:cNvContentPartPr/>
                <p14:nvPr/>
              </p14:nvContentPartPr>
              <p14:xfrm>
                <a:off x="8840282" y="5427846"/>
                <a:ext cx="36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10EA975-4475-2CC2-A54F-ADC2DCD42E3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77642" y="536520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EC81A41-DC14-8919-BB2E-515ED4067612}"/>
                    </a:ext>
                  </a:extLst>
                </p14:cNvPr>
                <p14:cNvContentPartPr/>
                <p14:nvPr/>
              </p14:nvContentPartPr>
              <p14:xfrm>
                <a:off x="8883842" y="5427846"/>
                <a:ext cx="36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EC81A41-DC14-8919-BB2E-515ED406761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20842" y="536520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22B84DE-A629-ABD4-08A0-7C63D6B5C83F}"/>
                    </a:ext>
                  </a:extLst>
                </p14:cNvPr>
                <p14:cNvContentPartPr/>
                <p14:nvPr/>
              </p14:nvContentPartPr>
              <p14:xfrm>
                <a:off x="8854682" y="5388246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22B84DE-A629-ABD4-08A0-7C63D6B5C83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92042" y="532560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14733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065912-2B52-A9C3-640A-F6D2BA8C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-8-1">
            <a:extLst>
              <a:ext uri="{FF2B5EF4-FFF2-40B4-BE49-F238E27FC236}">
                <a16:creationId xmlns:a16="http://schemas.microsoft.com/office/drawing/2014/main" id="{8CF64E34-78BF-E8E9-C3DC-A561633C73D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11633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Adversary-in-the-Middle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26944-F22F-15FA-72CE-161EA780AD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42" t="16852" r="6042" b="6852"/>
          <a:stretch/>
        </p:blipFill>
        <p:spPr>
          <a:xfrm>
            <a:off x="628650" y="1238250"/>
            <a:ext cx="10934700" cy="5219700"/>
          </a:xfrm>
          <a:prstGeom prst="rect">
            <a:avLst/>
          </a:prstGeom>
        </p:spPr>
      </p:pic>
      <p:sp>
        <p:nvSpPr>
          <p:cNvPr id="3" name="content-8-2">
            <a:extLst>
              <a:ext uri="{FF2B5EF4-FFF2-40B4-BE49-F238E27FC236}">
                <a16:creationId xmlns:a16="http://schemas.microsoft.com/office/drawing/2014/main" id="{3D7A8C41-CCB1-8280-F52E-979BE214FEBE}"/>
              </a:ext>
            </a:extLst>
          </p:cNvPr>
          <p:cNvSpPr>
            <a:spLocks noGrp="1"/>
          </p:cNvSpPr>
          <p:nvPr/>
        </p:nvSpPr>
        <p:spPr>
          <a:xfrm>
            <a:off x="533400" y="6581775"/>
            <a:ext cx="11125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B7BDB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7BDB2"/>
                </a:solidFill>
                <a:latin typeface="Arial"/>
                <a:ea typeface="Arial"/>
                <a:cs typeface="Arial"/>
              </a:rPr>
              <a:t>Source: Microsoft</a:t>
            </a:r>
          </a:p>
        </p:txBody>
      </p:sp>
    </p:spTree>
    <p:extLst>
      <p:ext uri="{BB962C8B-B14F-4D97-AF65-F5344CB8AC3E}">
        <p14:creationId xmlns:p14="http://schemas.microsoft.com/office/powerpoint/2010/main" val="818180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FF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644623-A276-CF74-DF6D-B2AE5A9E002A}"/>
              </a:ext>
            </a:extLst>
          </p:cNvPr>
          <p:cNvSpPr txBox="1"/>
          <p:nvPr/>
        </p:nvSpPr>
        <p:spPr>
          <a:xfrm>
            <a:off x="4120914" y="3109838"/>
            <a:ext cx="34202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Placeholder for Video</a:t>
            </a:r>
            <a:br>
              <a:rPr lang="en-US" dirty="0"/>
            </a:br>
            <a:r>
              <a:rPr lang="en-US" dirty="0"/>
              <a:t>Exceeded file size limits for GitHub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767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-22-1">
            <a:extLst>
              <a:ext uri="{FF2B5EF4-FFF2-40B4-BE49-F238E27FC236}">
                <a16:creationId xmlns:a16="http://schemas.microsoft.com/office/drawing/2014/main" id="{AFAF7D13-E0FE-4341-AE92-D6B9E70AAFC7}"/>
              </a:ext>
            </a:extLst>
          </p:cNvPr>
          <p:cNvSpPr>
            <a:spLocks noGrp="1"/>
          </p:cNvSpPr>
          <p:nvPr/>
        </p:nvSpPr>
        <p:spPr>
          <a:xfrm>
            <a:off x="283771" y="117808"/>
            <a:ext cx="11144250" cy="1514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7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lang="en-US" sz="2800" b="0" i="0" dirty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Hunting for</a:t>
            </a:r>
            <a:r>
              <a:rPr sz="2800" b="0" i="0" dirty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AiTM</a:t>
            </a:r>
            <a:r>
              <a:rPr sz="2800" b="0" i="0" dirty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Activity</a:t>
            </a:r>
            <a:endParaRPr sz="2800" b="0" i="0" dirty="0">
              <a:solidFill>
                <a:schemeClr val="bg1"/>
              </a:solidFill>
              <a:latin typeface="Arial Black"/>
              <a:ea typeface="Arial Black"/>
              <a:cs typeface="Arial Black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E94BE4-A2F9-DB3A-1E4A-3EDFEBF1F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43" y="700126"/>
            <a:ext cx="11144249" cy="587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98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A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B6846-0CB7-4C7D-4C70-FB536A38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-22-1">
            <a:extLst>
              <a:ext uri="{FF2B5EF4-FFF2-40B4-BE49-F238E27FC236}">
                <a16:creationId xmlns:a16="http://schemas.microsoft.com/office/drawing/2014/main" id="{01E3BE5F-A1FD-741C-F8F3-42ECB2C81D33}"/>
              </a:ext>
            </a:extLst>
          </p:cNvPr>
          <p:cNvSpPr>
            <a:spLocks noGrp="1"/>
          </p:cNvSpPr>
          <p:nvPr/>
        </p:nvSpPr>
        <p:spPr>
          <a:xfrm>
            <a:off x="283771" y="117808"/>
            <a:ext cx="11144250" cy="1514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7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lang="en-US" sz="2800" b="0" i="0" dirty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Hunting for</a:t>
            </a:r>
            <a:r>
              <a:rPr sz="2800" b="0" i="0" dirty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AiTM</a:t>
            </a:r>
            <a:r>
              <a:rPr sz="2800" b="0" i="0" dirty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Black"/>
                <a:ea typeface="Arial Black"/>
                <a:cs typeface="Arial Black"/>
              </a:rPr>
              <a:t>Activity</a:t>
            </a:r>
            <a:endParaRPr sz="2800" b="0" i="0" dirty="0">
              <a:solidFill>
                <a:schemeClr val="bg1"/>
              </a:solidFill>
              <a:latin typeface="Arial Black"/>
              <a:ea typeface="Arial Black"/>
              <a:cs typeface="Arial Black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96CE95-5189-DEAA-99ED-1F12F71B1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56" y="1648174"/>
            <a:ext cx="11323087" cy="35616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56F7E9-5D13-2DAD-B11A-5CE14EE2D96F}"/>
              </a:ext>
            </a:extLst>
          </p:cNvPr>
          <p:cNvSpPr/>
          <p:nvPr/>
        </p:nvSpPr>
        <p:spPr>
          <a:xfrm>
            <a:off x="7569200" y="1715906"/>
            <a:ext cx="4188343" cy="3702759"/>
          </a:xfrm>
          <a:prstGeom prst="rect">
            <a:avLst/>
          </a:prstGeom>
          <a:noFill/>
          <a:ln w="76200">
            <a:solidFill>
              <a:srgbClr val="C8E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8141E2-E175-1987-A443-A5A17BCA4352}"/>
              </a:ext>
            </a:extLst>
          </p:cNvPr>
          <p:cNvSpPr/>
          <p:nvPr/>
        </p:nvSpPr>
        <p:spPr>
          <a:xfrm>
            <a:off x="451389" y="3798706"/>
            <a:ext cx="4188343" cy="1394187"/>
          </a:xfrm>
          <a:prstGeom prst="rect">
            <a:avLst/>
          </a:prstGeom>
          <a:noFill/>
          <a:ln w="76200">
            <a:solidFill>
              <a:srgbClr val="E6D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A5271A-A881-734F-0A01-581B65A48308}"/>
              </a:ext>
            </a:extLst>
          </p:cNvPr>
          <p:cNvSpPr/>
          <p:nvPr/>
        </p:nvSpPr>
        <p:spPr>
          <a:xfrm>
            <a:off x="451391" y="2195680"/>
            <a:ext cx="5102742" cy="158609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09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-9-1">
            <a:extLst>
              <a:ext uri="{FF2B5EF4-FFF2-40B4-BE49-F238E27FC236}">
                <a16:creationId xmlns:a16="http://schemas.microsoft.com/office/drawing/2014/main" id="{B0674624-85D0-400E-9DB4-AE60ED33181F}"/>
              </a:ext>
            </a:extLst>
          </p:cNvPr>
          <p:cNvSpPr>
            <a:spLocks noGrp="1"/>
          </p:cNvSpPr>
          <p:nvPr/>
        </p:nvSpPr>
        <p:spPr>
          <a:xfrm>
            <a:off x="514350" y="314325"/>
            <a:ext cx="111633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3150" b="0" i="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Device Code Flow </a:t>
            </a:r>
            <a:r>
              <a:rPr lang="en-US" sz="315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Phishing</a:t>
            </a:r>
            <a:endParaRPr sz="3150" b="0" i="0" dirty="0">
              <a:solidFill>
                <a:srgbClr val="F4F3ED"/>
              </a:solidFill>
              <a:latin typeface="Arial Black"/>
              <a:ea typeface="Arial Black"/>
              <a:cs typeface="Arial Black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l="8333" t="17222" r="5625" b="9815"/>
          <a:stretch/>
        </p:blipFill>
        <p:spPr>
          <a:xfrm>
            <a:off x="809625" y="1485900"/>
            <a:ext cx="104775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99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-11-1">
            <a:extLst>
              <a:ext uri="{FF2B5EF4-FFF2-40B4-BE49-F238E27FC236}">
                <a16:creationId xmlns:a16="http://schemas.microsoft.com/office/drawing/2014/main" id="{E52F20ED-56BA-4355-AD17-6F27B8F6D766}"/>
              </a:ext>
            </a:extLst>
          </p:cNvPr>
          <p:cNvSpPr>
            <a:spLocks noGrp="1"/>
          </p:cNvSpPr>
          <p:nvPr/>
        </p:nvSpPr>
        <p:spPr>
          <a:xfrm>
            <a:off x="3038475" y="2195861"/>
            <a:ext cx="6115050" cy="2228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800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4800" b="0" i="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Device</a:t>
            </a:r>
          </a:p>
          <a:p>
            <a:pPr algn="ctr">
              <a:defRPr sz="4800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4800" b="0" i="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Code Flow</a:t>
            </a:r>
          </a:p>
        </p:txBody>
      </p:sp>
      <p:sp>
        <p:nvSpPr>
          <p:cNvPr id="3" name="content-11-2">
            <a:extLst>
              <a:ext uri="{FF2B5EF4-FFF2-40B4-BE49-F238E27FC236}">
                <a16:creationId xmlns:a16="http://schemas.microsoft.com/office/drawing/2014/main" id="{3DF7C24C-8455-484E-BC4A-D889D65017B8}"/>
              </a:ext>
            </a:extLst>
          </p:cNvPr>
          <p:cNvSpPr>
            <a:spLocks noGrp="1"/>
          </p:cNvSpPr>
          <p:nvPr/>
        </p:nvSpPr>
        <p:spPr>
          <a:xfrm>
            <a:off x="4471639" y="3547714"/>
            <a:ext cx="6115050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875" b="0" i="0">
                <a:solidFill>
                  <a:srgbClr val="D9FF43"/>
                </a:solidFill>
                <a:latin typeface="Arial Black"/>
                <a:ea typeface="Arial Black"/>
                <a:cs typeface="Arial Black"/>
              </a:defRPr>
            </a:pPr>
            <a:r>
              <a:rPr sz="7875" b="0" i="0" dirty="0">
                <a:solidFill>
                  <a:srgbClr val="D9FF43"/>
                </a:solidFill>
                <a:latin typeface="Arial Black"/>
                <a:ea typeface="Arial Black"/>
                <a:cs typeface="Arial Black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508486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11786616" cy="6528816"/>
          </a:xfrm>
          <a:prstGeom prst="roundRect">
            <a:avLst>
              <a:gd name="adj" fmla="val 560"/>
            </a:avLst>
          </a:prstGeom>
          <a:solidFill>
            <a:srgbClr val="F3F1EC"/>
          </a:solidFill>
          <a:ln w="12700">
            <a:solidFill>
              <a:srgbClr val="E6E2D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01168" y="164592"/>
            <a:ext cx="4709160" cy="6528816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4572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E8E8E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Posture of Entra ID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" y="169164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BASE CAMP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488" y="226771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D4FF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≠ THE SUMMIT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299923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Defaults get you on the mountain.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C8C8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Alerts, logs, and CA are the climb.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39136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D4FF2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01   Enable the baseline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" y="42976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02   Get alerted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5488" y="46817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03   Read the gaps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" y="506577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04   Build the posture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38928" y="438912"/>
            <a:ext cx="6565392" cy="5980176"/>
          </a:xfrm>
          <a:prstGeom prst="roundRect">
            <a:avLst>
              <a:gd name="adj" fmla="val 612"/>
            </a:avLst>
          </a:prstGeom>
          <a:solidFill>
            <a:srgbClr val="FFFFFF"/>
          </a:solidFill>
          <a:ln w="12700">
            <a:solidFill>
              <a:srgbClr val="E2DD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0" descr="/home/workdir/artifacts/hardening-climb-comi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66944" y="566928"/>
            <a:ext cx="6309360" cy="57241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48785-C1A5-1AD8-2B0F-8BDAB0ADD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263" y="765639"/>
            <a:ext cx="3551147" cy="5326721"/>
          </a:xfrm>
          <a:prstGeom prst="rect">
            <a:avLst/>
          </a:prstGeom>
        </p:spPr>
      </p:pic>
      <p:sp>
        <p:nvSpPr>
          <p:cNvPr id="10" name="content-13-1">
            <a:extLst>
              <a:ext uri="{FF2B5EF4-FFF2-40B4-BE49-F238E27FC236}">
                <a16:creationId xmlns:a16="http://schemas.microsoft.com/office/drawing/2014/main" id="{D62C7CED-2A12-4A56-8463-8A47DA2194E9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666B6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B61"/>
                </a:solidFill>
                <a:latin typeface="Arial"/>
                <a:ea typeface="Arial"/>
                <a:cs typeface="Arial"/>
              </a:rPr>
              <a:t>Hardening 365 Against Identity-Driven Attacks</a:t>
            </a:r>
          </a:p>
        </p:txBody>
      </p:sp>
      <p:sp>
        <p:nvSpPr>
          <p:cNvPr id="2" name="content-13-2">
            <a:extLst>
              <a:ext uri="{FF2B5EF4-FFF2-40B4-BE49-F238E27FC236}">
                <a16:creationId xmlns:a16="http://schemas.microsoft.com/office/drawing/2014/main" id="{4DCF9B26-FA06-4BF4-9BAD-D62B6EF05E17}"/>
              </a:ext>
            </a:extLst>
          </p:cNvPr>
          <p:cNvSpPr>
            <a:spLocks noGrp="1"/>
          </p:cNvSpPr>
          <p:nvPr/>
        </p:nvSpPr>
        <p:spPr>
          <a:xfrm>
            <a:off x="704850" y="2590799"/>
            <a:ext cx="5391150" cy="2466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7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20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WHAT IS</a:t>
            </a:r>
          </a:p>
          <a:p>
            <a:pPr algn="l">
              <a:defRPr sz="367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20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CONDITIONAL</a:t>
            </a:r>
          </a:p>
          <a:p>
            <a:pPr algn="l">
              <a:defRPr sz="367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20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ACCESS?</a:t>
            </a:r>
          </a:p>
        </p:txBody>
      </p:sp>
      <p:sp>
        <p:nvSpPr>
          <p:cNvPr id="3" name="content-13-3">
            <a:extLst>
              <a:ext uri="{FF2B5EF4-FFF2-40B4-BE49-F238E27FC236}">
                <a16:creationId xmlns:a16="http://schemas.microsoft.com/office/drawing/2014/main" id="{E73171A4-2453-427E-B92D-C7C82B92F435}"/>
              </a:ext>
            </a:extLst>
          </p:cNvPr>
          <p:cNvSpPr>
            <a:spLocks noGrp="1"/>
          </p:cNvSpPr>
          <p:nvPr/>
        </p:nvSpPr>
        <p:spPr>
          <a:xfrm>
            <a:off x="6419850" y="1277423"/>
            <a:ext cx="523875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475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Microsoft Entra’s policy engine for access decisions</a:t>
            </a:r>
          </a:p>
        </p:txBody>
      </p:sp>
      <p:sp>
        <p:nvSpPr>
          <p:cNvPr id="4" name="text-divider-13">
            <a:extLst>
              <a:ext uri="{FF2B5EF4-FFF2-40B4-BE49-F238E27FC236}">
                <a16:creationId xmlns:a16="http://schemas.microsoft.com/office/drawing/2014/main" id="{B1BAB416-BFC6-486E-B2D3-EE73B726D16D}"/>
              </a:ext>
            </a:extLst>
          </p:cNvPr>
          <p:cNvSpPr>
            <a:spLocks noGrp="1"/>
          </p:cNvSpPr>
          <p:nvPr/>
        </p:nvSpPr>
        <p:spPr>
          <a:xfrm>
            <a:off x="6434137" y="2381250"/>
            <a:ext cx="5210175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content-13-4">
            <a:extLst>
              <a:ext uri="{FF2B5EF4-FFF2-40B4-BE49-F238E27FC236}">
                <a16:creationId xmlns:a16="http://schemas.microsoft.com/office/drawing/2014/main" id="{AE19C36A-D35E-4CAF-9517-F3D86727F9E4}"/>
              </a:ext>
            </a:extLst>
          </p:cNvPr>
          <p:cNvSpPr>
            <a:spLocks noGrp="1"/>
          </p:cNvSpPr>
          <p:nvPr/>
        </p:nvSpPr>
        <p:spPr>
          <a:xfrm>
            <a:off x="6472237" y="2495550"/>
            <a:ext cx="517207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100" b="0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Evaluates signals such as the user, application, device, location, and sign-in risk</a:t>
            </a:r>
          </a:p>
        </p:txBody>
      </p:sp>
      <p:sp>
        <p:nvSpPr>
          <p:cNvPr id="6" name="text-divider-13">
            <a:extLst>
              <a:ext uri="{FF2B5EF4-FFF2-40B4-BE49-F238E27FC236}">
                <a16:creationId xmlns:a16="http://schemas.microsoft.com/office/drawing/2014/main" id="{52713620-2B1E-4262-B60B-F977A949973E}"/>
              </a:ext>
            </a:extLst>
          </p:cNvPr>
          <p:cNvSpPr>
            <a:spLocks noGrp="1"/>
          </p:cNvSpPr>
          <p:nvPr/>
        </p:nvSpPr>
        <p:spPr>
          <a:xfrm>
            <a:off x="6434137" y="3562350"/>
            <a:ext cx="5210175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content-13-5">
            <a:extLst>
              <a:ext uri="{FF2B5EF4-FFF2-40B4-BE49-F238E27FC236}">
                <a16:creationId xmlns:a16="http://schemas.microsoft.com/office/drawing/2014/main" id="{AAD66475-9AFE-452C-8A9E-18543EB93467}"/>
              </a:ext>
            </a:extLst>
          </p:cNvPr>
          <p:cNvSpPr>
            <a:spLocks noGrp="1"/>
          </p:cNvSpPr>
          <p:nvPr/>
        </p:nvSpPr>
        <p:spPr>
          <a:xfrm>
            <a:off x="6472237" y="3824287"/>
            <a:ext cx="517207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100" b="0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Applies controls in real time: allow, block, or require additional authentication</a:t>
            </a:r>
          </a:p>
        </p:txBody>
      </p:sp>
      <p:sp>
        <p:nvSpPr>
          <p:cNvPr id="8" name="text-divider-13">
            <a:extLst>
              <a:ext uri="{FF2B5EF4-FFF2-40B4-BE49-F238E27FC236}">
                <a16:creationId xmlns:a16="http://schemas.microsoft.com/office/drawing/2014/main" id="{6FE21342-95EC-4BD0-9237-2BB8429B715D}"/>
              </a:ext>
            </a:extLst>
          </p:cNvPr>
          <p:cNvSpPr>
            <a:spLocks noGrp="1"/>
          </p:cNvSpPr>
          <p:nvPr/>
        </p:nvSpPr>
        <p:spPr>
          <a:xfrm>
            <a:off x="6434137" y="4743450"/>
            <a:ext cx="5210175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content-13-6">
            <a:extLst>
              <a:ext uri="{FF2B5EF4-FFF2-40B4-BE49-F238E27FC236}">
                <a16:creationId xmlns:a16="http://schemas.microsoft.com/office/drawing/2014/main" id="{39BEEB44-4723-4BA8-ACE7-00A70F54881C}"/>
              </a:ext>
            </a:extLst>
          </p:cNvPr>
          <p:cNvSpPr>
            <a:spLocks noGrp="1"/>
          </p:cNvSpPr>
          <p:nvPr/>
        </p:nvSpPr>
        <p:spPr>
          <a:xfrm>
            <a:off x="6472237" y="4857750"/>
            <a:ext cx="517207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100" b="0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Enables organizations to enforce consistent access rules across cloud resources</a:t>
            </a:r>
          </a:p>
        </p:txBody>
      </p:sp>
    </p:spTree>
    <p:extLst>
      <p:ext uri="{BB962C8B-B14F-4D97-AF65-F5344CB8AC3E}">
        <p14:creationId xmlns:p14="http://schemas.microsoft.com/office/powerpoint/2010/main" val="1339248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-14-1">
            <a:extLst>
              <a:ext uri="{FF2B5EF4-FFF2-40B4-BE49-F238E27FC236}">
                <a16:creationId xmlns:a16="http://schemas.microsoft.com/office/drawing/2014/main" id="{5A1AD44A-2979-4E63-9116-8AB86FCE58E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B7BDB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B7BDB2"/>
                </a:solidFill>
                <a:latin typeface="Arial"/>
                <a:ea typeface="Arial"/>
                <a:cs typeface="Arial"/>
              </a:rPr>
              <a:t>Hardening 365 Against Identity-Driven Attacks</a:t>
            </a:r>
          </a:p>
        </p:txBody>
      </p:sp>
      <p:sp>
        <p:nvSpPr>
          <p:cNvPr id="2" name="content-14-2">
            <a:extLst>
              <a:ext uri="{FF2B5EF4-FFF2-40B4-BE49-F238E27FC236}">
                <a16:creationId xmlns:a16="http://schemas.microsoft.com/office/drawing/2014/main" id="{1B344E64-FCF7-4539-B27C-16F3E35346CC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lang="en-US" sz="3300" b="0" i="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A FEW THINGS THAT</a:t>
            </a:r>
            <a:r>
              <a:rPr sz="3300" b="0" i="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 CONDITIONAL ACCESS</a:t>
            </a:r>
          </a:p>
          <a:p>
            <a:pPr algn="l">
              <a:defRPr sz="3300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3300" b="0" i="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ALLOWS YOU TO DO</a:t>
            </a:r>
          </a:p>
        </p:txBody>
      </p:sp>
      <p:sp>
        <p:nvSpPr>
          <p:cNvPr id="3" name="content-14-3">
            <a:extLst>
              <a:ext uri="{FF2B5EF4-FFF2-40B4-BE49-F238E27FC236}">
                <a16:creationId xmlns:a16="http://schemas.microsoft.com/office/drawing/2014/main" id="{04D23B9B-ED9E-46CF-8564-2CF8B4951205}"/>
              </a:ext>
            </a:extLst>
          </p:cNvPr>
          <p:cNvSpPr>
            <a:spLocks noGrp="1"/>
          </p:cNvSpPr>
          <p:nvPr/>
        </p:nvSpPr>
        <p:spPr>
          <a:xfrm>
            <a:off x="561975" y="2471738"/>
            <a:ext cx="11096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17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Require MFA for all users </a:t>
            </a:r>
            <a:r>
              <a:rPr sz="2175" b="1" i="0" dirty="0">
                <a:solidFill>
                  <a:srgbClr val="D9FF43"/>
                </a:solidFill>
                <a:latin typeface="Arial"/>
                <a:ea typeface="Arial"/>
                <a:cs typeface="Arial"/>
              </a:rPr>
              <a:t>AND</a:t>
            </a:r>
            <a:r>
              <a:rPr sz="217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 apply session lifetime policies</a:t>
            </a:r>
          </a:p>
        </p:txBody>
      </p:sp>
      <p:sp>
        <p:nvSpPr>
          <p:cNvPr id="4" name="content-14-4">
            <a:extLst>
              <a:ext uri="{FF2B5EF4-FFF2-40B4-BE49-F238E27FC236}">
                <a16:creationId xmlns:a16="http://schemas.microsoft.com/office/drawing/2014/main" id="{331118A1-5F61-4752-9E4E-FCD00426BBD1}"/>
              </a:ext>
            </a:extLst>
          </p:cNvPr>
          <p:cNvSpPr>
            <a:spLocks noGrp="1"/>
          </p:cNvSpPr>
          <p:nvPr/>
        </p:nvSpPr>
        <p:spPr>
          <a:xfrm>
            <a:off x="561975" y="3205163"/>
            <a:ext cx="11096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4F3ED"/>
                </a:solidFill>
                <a:latin typeface="Arial"/>
                <a:ea typeface="Arial"/>
                <a:cs typeface="Arial"/>
              </a:rPr>
              <a:t>Require additional authentication if the sign-in is deemed risky</a:t>
            </a:r>
          </a:p>
        </p:txBody>
      </p:sp>
      <p:sp>
        <p:nvSpPr>
          <p:cNvPr id="5" name="content-14-5">
            <a:extLst>
              <a:ext uri="{FF2B5EF4-FFF2-40B4-BE49-F238E27FC236}">
                <a16:creationId xmlns:a16="http://schemas.microsoft.com/office/drawing/2014/main" id="{33661A4B-F704-44A5-ACE0-97AD5F7ADD76}"/>
              </a:ext>
            </a:extLst>
          </p:cNvPr>
          <p:cNvSpPr>
            <a:spLocks noGrp="1"/>
          </p:cNvSpPr>
          <p:nvPr/>
        </p:nvSpPr>
        <p:spPr>
          <a:xfrm>
            <a:off x="561975" y="3938588"/>
            <a:ext cx="11096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4F3ED"/>
                </a:solidFill>
                <a:latin typeface="Arial"/>
                <a:ea typeface="Arial"/>
                <a:cs typeface="Arial"/>
              </a:rPr>
              <a:t>Block all sign-ins from accounts with an active risk detections</a:t>
            </a:r>
          </a:p>
        </p:txBody>
      </p:sp>
      <p:sp>
        <p:nvSpPr>
          <p:cNvPr id="6" name="content-14-6">
            <a:extLst>
              <a:ext uri="{FF2B5EF4-FFF2-40B4-BE49-F238E27FC236}">
                <a16:creationId xmlns:a16="http://schemas.microsoft.com/office/drawing/2014/main" id="{90C6129F-1324-447A-ADA3-617E9BCA105D}"/>
              </a:ext>
            </a:extLst>
          </p:cNvPr>
          <p:cNvSpPr>
            <a:spLocks noGrp="1"/>
          </p:cNvSpPr>
          <p:nvPr/>
        </p:nvSpPr>
        <p:spPr>
          <a:xfrm>
            <a:off x="561975" y="4672013"/>
            <a:ext cx="1109662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F4F3ED"/>
                </a:solidFill>
                <a:latin typeface="Arial"/>
                <a:ea typeface="Arial"/>
                <a:cs typeface="Arial"/>
              </a:rPr>
              <a:t>Block legacy authentication methods</a:t>
            </a:r>
          </a:p>
        </p:txBody>
      </p:sp>
      <p:sp>
        <p:nvSpPr>
          <p:cNvPr id="7" name="page-field-14">
            <a:extLst>
              <a:ext uri="{FF2B5EF4-FFF2-40B4-BE49-F238E27FC236}">
                <a16:creationId xmlns:a16="http://schemas.microsoft.com/office/drawing/2014/main" id="{37DE9316-8C05-4C2D-BE81-2E970C483B78}"/>
              </a:ext>
            </a:extLst>
          </p:cNvPr>
          <p:cNvSpPr>
            <a:spLocks noGrp="1"/>
          </p:cNvSpPr>
          <p:nvPr/>
        </p:nvSpPr>
        <p:spPr>
          <a:xfrm>
            <a:off x="0" y="5905500"/>
            <a:ext cx="12192000" cy="952500"/>
          </a:xfrm>
          <a:prstGeom prst="rect">
            <a:avLst/>
          </a:prstGeom>
          <a:solidFill>
            <a:srgbClr val="D9FF4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content-14-7">
            <a:extLst>
              <a:ext uri="{FF2B5EF4-FFF2-40B4-BE49-F238E27FC236}">
                <a16:creationId xmlns:a16="http://schemas.microsoft.com/office/drawing/2014/main" id="{C6A8E3B9-B489-493C-A9BC-7976DABE7906}"/>
              </a:ext>
            </a:extLst>
          </p:cNvPr>
          <p:cNvSpPr>
            <a:spLocks noGrp="1"/>
          </p:cNvSpPr>
          <p:nvPr/>
        </p:nvSpPr>
        <p:spPr>
          <a:xfrm>
            <a:off x="552450" y="6200775"/>
            <a:ext cx="111061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Block device code flow authentication entirely</a:t>
            </a:r>
          </a:p>
        </p:txBody>
      </p:sp>
    </p:spTree>
    <p:extLst>
      <p:ext uri="{BB962C8B-B14F-4D97-AF65-F5344CB8AC3E}">
        <p14:creationId xmlns:p14="http://schemas.microsoft.com/office/powerpoint/2010/main" val="120548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-15-1">
            <a:extLst>
              <a:ext uri="{FF2B5EF4-FFF2-40B4-BE49-F238E27FC236}">
                <a16:creationId xmlns:a16="http://schemas.microsoft.com/office/drawing/2014/main" id="{3E7C2EDB-2779-4C5E-ABA3-777DED886AE9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666B6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B61"/>
                </a:solidFill>
                <a:latin typeface="Arial"/>
                <a:ea typeface="Arial"/>
                <a:cs typeface="Arial"/>
              </a:rPr>
              <a:t>Hardening 365 Against Identity-Driven Attacks</a:t>
            </a:r>
          </a:p>
        </p:txBody>
      </p:sp>
      <p:sp>
        <p:nvSpPr>
          <p:cNvPr id="2" name="content-15-2">
            <a:extLst>
              <a:ext uri="{FF2B5EF4-FFF2-40B4-BE49-F238E27FC236}">
                <a16:creationId xmlns:a16="http://schemas.microsoft.com/office/drawing/2014/main" id="{366D5A85-B4FF-4ACA-8E7F-E44D9A1E2AB0}"/>
              </a:ext>
            </a:extLst>
          </p:cNvPr>
          <p:cNvSpPr>
            <a:spLocks noGrp="1"/>
          </p:cNvSpPr>
          <p:nvPr/>
        </p:nvSpPr>
        <p:spPr>
          <a:xfrm>
            <a:off x="514350" y="876300"/>
            <a:ext cx="1114425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WHAT IS RISK-BASED</a:t>
            </a:r>
          </a:p>
          <a:p>
            <a:pPr algn="l">
              <a:defRPr sz="375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CONDITIONAL ACCESS?</a:t>
            </a:r>
          </a:p>
        </p:txBody>
      </p:sp>
      <p:sp>
        <p:nvSpPr>
          <p:cNvPr id="3" name="content-15-3">
            <a:extLst>
              <a:ext uri="{FF2B5EF4-FFF2-40B4-BE49-F238E27FC236}">
                <a16:creationId xmlns:a16="http://schemas.microsoft.com/office/drawing/2014/main" id="{92A684B0-9E88-4896-8927-DE4CFD1C86CD}"/>
              </a:ext>
            </a:extLst>
          </p:cNvPr>
          <p:cNvSpPr>
            <a:spLocks noGrp="1"/>
          </p:cNvSpPr>
          <p:nvPr/>
        </p:nvSpPr>
        <p:spPr>
          <a:xfrm>
            <a:off x="561975" y="2314575"/>
            <a:ext cx="109347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250" b="0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Evaluates sign-in risk signals and applies controls when risk has been detected on an account</a:t>
            </a:r>
          </a:p>
        </p:txBody>
      </p:sp>
      <p:sp>
        <p:nvSpPr>
          <p:cNvPr id="4" name="content-15-4">
            <a:extLst>
              <a:ext uri="{FF2B5EF4-FFF2-40B4-BE49-F238E27FC236}">
                <a16:creationId xmlns:a16="http://schemas.microsoft.com/office/drawing/2014/main" id="{35E1BB92-8A30-45B3-98B2-2FDA9184F4C9}"/>
              </a:ext>
            </a:extLst>
          </p:cNvPr>
          <p:cNvSpPr>
            <a:spLocks noGrp="1"/>
          </p:cNvSpPr>
          <p:nvPr/>
        </p:nvSpPr>
        <p:spPr>
          <a:xfrm>
            <a:off x="561975" y="3295650"/>
            <a:ext cx="53530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Anonymous IP address</a:t>
            </a:r>
          </a:p>
        </p:txBody>
      </p:sp>
      <p:sp>
        <p:nvSpPr>
          <p:cNvPr id="5" name="content-15-5">
            <a:extLst>
              <a:ext uri="{FF2B5EF4-FFF2-40B4-BE49-F238E27FC236}">
                <a16:creationId xmlns:a16="http://schemas.microsoft.com/office/drawing/2014/main" id="{6751C9AA-D55E-42B9-9234-86D461BDB22C}"/>
              </a:ext>
            </a:extLst>
          </p:cNvPr>
          <p:cNvSpPr>
            <a:spLocks noGrp="1"/>
          </p:cNvSpPr>
          <p:nvPr/>
        </p:nvSpPr>
        <p:spPr>
          <a:xfrm>
            <a:off x="561975" y="3838575"/>
            <a:ext cx="53530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20F"/>
                </a:solidFill>
                <a:latin typeface="Arial"/>
                <a:ea typeface="Arial"/>
                <a:cs typeface="Arial"/>
              </a:rPr>
              <a:t>Anomalous Token</a:t>
            </a:r>
          </a:p>
        </p:txBody>
      </p:sp>
      <p:sp>
        <p:nvSpPr>
          <p:cNvPr id="6" name="content-15-6">
            <a:extLst>
              <a:ext uri="{FF2B5EF4-FFF2-40B4-BE49-F238E27FC236}">
                <a16:creationId xmlns:a16="http://schemas.microsoft.com/office/drawing/2014/main" id="{68D5E31D-344D-4683-A793-6D898F803459}"/>
              </a:ext>
            </a:extLst>
          </p:cNvPr>
          <p:cNvSpPr>
            <a:spLocks noGrp="1"/>
          </p:cNvSpPr>
          <p:nvPr/>
        </p:nvSpPr>
        <p:spPr>
          <a:xfrm>
            <a:off x="561975" y="4381500"/>
            <a:ext cx="53530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20F"/>
                </a:solidFill>
                <a:latin typeface="Arial"/>
                <a:ea typeface="Arial"/>
                <a:cs typeface="Arial"/>
              </a:rPr>
              <a:t>Atypical travel</a:t>
            </a:r>
          </a:p>
        </p:txBody>
      </p:sp>
      <p:sp>
        <p:nvSpPr>
          <p:cNvPr id="7" name="content-15-7">
            <a:extLst>
              <a:ext uri="{FF2B5EF4-FFF2-40B4-BE49-F238E27FC236}">
                <a16:creationId xmlns:a16="http://schemas.microsoft.com/office/drawing/2014/main" id="{F7685673-5557-4AB6-A27F-6B21A887D24E}"/>
              </a:ext>
            </a:extLst>
          </p:cNvPr>
          <p:cNvSpPr>
            <a:spLocks noGrp="1"/>
          </p:cNvSpPr>
          <p:nvPr/>
        </p:nvSpPr>
        <p:spPr>
          <a:xfrm>
            <a:off x="6438900" y="3295650"/>
            <a:ext cx="5257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20F"/>
                </a:solidFill>
                <a:latin typeface="Arial"/>
                <a:ea typeface="Arial"/>
                <a:cs typeface="Arial"/>
              </a:rPr>
              <a:t>Impossible travel</a:t>
            </a:r>
          </a:p>
        </p:txBody>
      </p:sp>
      <p:sp>
        <p:nvSpPr>
          <p:cNvPr id="8" name="content-15-8">
            <a:extLst>
              <a:ext uri="{FF2B5EF4-FFF2-40B4-BE49-F238E27FC236}">
                <a16:creationId xmlns:a16="http://schemas.microsoft.com/office/drawing/2014/main" id="{51D113D2-5983-4157-B438-7E1E92BEA473}"/>
              </a:ext>
            </a:extLst>
          </p:cNvPr>
          <p:cNvSpPr>
            <a:spLocks noGrp="1"/>
          </p:cNvSpPr>
          <p:nvPr/>
        </p:nvSpPr>
        <p:spPr>
          <a:xfrm>
            <a:off x="6438900" y="3838575"/>
            <a:ext cx="5257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20F"/>
                </a:solidFill>
                <a:latin typeface="Arial"/>
                <a:ea typeface="Arial"/>
                <a:cs typeface="Arial"/>
              </a:rPr>
              <a:t>Malicious IP address</a:t>
            </a:r>
          </a:p>
        </p:txBody>
      </p:sp>
      <p:sp>
        <p:nvSpPr>
          <p:cNvPr id="9" name="content-15-9">
            <a:extLst>
              <a:ext uri="{FF2B5EF4-FFF2-40B4-BE49-F238E27FC236}">
                <a16:creationId xmlns:a16="http://schemas.microsoft.com/office/drawing/2014/main" id="{972EAEF8-FF65-4A75-9A2C-3CF92481B3BA}"/>
              </a:ext>
            </a:extLst>
          </p:cNvPr>
          <p:cNvSpPr>
            <a:spLocks noGrp="1"/>
          </p:cNvSpPr>
          <p:nvPr/>
        </p:nvSpPr>
        <p:spPr>
          <a:xfrm>
            <a:off x="6438900" y="4381500"/>
            <a:ext cx="5257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20F"/>
                </a:solidFill>
                <a:latin typeface="Arial"/>
                <a:ea typeface="Arial"/>
                <a:cs typeface="Arial"/>
              </a:rPr>
              <a:t>Unfamiliar sign-in properties</a:t>
            </a:r>
          </a:p>
        </p:txBody>
      </p:sp>
      <p:sp>
        <p:nvSpPr>
          <p:cNvPr id="10" name="page-field-15">
            <a:extLst>
              <a:ext uri="{FF2B5EF4-FFF2-40B4-BE49-F238E27FC236}">
                <a16:creationId xmlns:a16="http://schemas.microsoft.com/office/drawing/2014/main" id="{BF0BD6D3-BD50-4AF1-A1D5-CE8085DA108A}"/>
              </a:ext>
            </a:extLst>
          </p:cNvPr>
          <p:cNvSpPr>
            <a:spLocks noGrp="1"/>
          </p:cNvSpPr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rgbClr val="10120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tent-15-10">
            <a:extLst>
              <a:ext uri="{FF2B5EF4-FFF2-40B4-BE49-F238E27FC236}">
                <a16:creationId xmlns:a16="http://schemas.microsoft.com/office/drawing/2014/main" id="{00A0A58A-3E5F-4CFD-B67A-502D029B39FB}"/>
              </a:ext>
            </a:extLst>
          </p:cNvPr>
          <p:cNvSpPr>
            <a:spLocks noGrp="1"/>
          </p:cNvSpPr>
          <p:nvPr/>
        </p:nvSpPr>
        <p:spPr>
          <a:xfrm>
            <a:off x="561975" y="5953125"/>
            <a:ext cx="1109662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 i="0">
                <a:solidFill>
                  <a:srgbClr val="D9FF4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9FF43"/>
                </a:solidFill>
                <a:latin typeface="Arial"/>
                <a:ea typeface="Arial"/>
                <a:cs typeface="Arial"/>
              </a:rPr>
              <a:t>These detections are great for raising flags on</a:t>
            </a:r>
          </a:p>
          <a:p>
            <a:pPr algn="l">
              <a:defRPr sz="2175" b="1" i="0">
                <a:solidFill>
                  <a:srgbClr val="D9FF4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9FF43"/>
                </a:solidFill>
                <a:latin typeface="Arial"/>
                <a:ea typeface="Arial"/>
                <a:cs typeface="Arial"/>
              </a:rPr>
              <a:t>AiTM and Device Code Phishing Attacks</a:t>
            </a:r>
          </a:p>
        </p:txBody>
      </p:sp>
    </p:spTree>
    <p:extLst>
      <p:ext uri="{BB962C8B-B14F-4D97-AF65-F5344CB8AC3E}">
        <p14:creationId xmlns:p14="http://schemas.microsoft.com/office/powerpoint/2010/main" val="465293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-16-1">
            <a:extLst>
              <a:ext uri="{FF2B5EF4-FFF2-40B4-BE49-F238E27FC236}">
                <a16:creationId xmlns:a16="http://schemas.microsoft.com/office/drawing/2014/main" id="{32F47B0F-AC33-4821-9975-EF42CA677B5C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B7BDB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B7BDB2"/>
                </a:solidFill>
                <a:latin typeface="Arial"/>
                <a:ea typeface="Arial"/>
                <a:cs typeface="Arial"/>
              </a:rPr>
              <a:t>Hardening 365 Against Identity-Driven Attacks</a:t>
            </a:r>
          </a:p>
        </p:txBody>
      </p:sp>
      <p:sp>
        <p:nvSpPr>
          <p:cNvPr id="2" name="content-16-2">
            <a:extLst>
              <a:ext uri="{FF2B5EF4-FFF2-40B4-BE49-F238E27FC236}">
                <a16:creationId xmlns:a16="http://schemas.microsoft.com/office/drawing/2014/main" id="{2BFA51C1-EFD8-4738-94C0-33DA1F3B6491}"/>
              </a:ext>
            </a:extLst>
          </p:cNvPr>
          <p:cNvSpPr>
            <a:spLocks noGrp="1"/>
          </p:cNvSpPr>
          <p:nvPr/>
        </p:nvSpPr>
        <p:spPr>
          <a:xfrm>
            <a:off x="514350" y="990600"/>
            <a:ext cx="11125200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50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4050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CONDITIONAL ACCESS</a:t>
            </a:r>
          </a:p>
          <a:p>
            <a:pPr algn="l">
              <a:defRPr sz="4050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4050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LIMITATIONS</a:t>
            </a:r>
          </a:p>
        </p:txBody>
      </p:sp>
      <p:sp>
        <p:nvSpPr>
          <p:cNvPr id="3" name="content-16-3">
            <a:extLst>
              <a:ext uri="{FF2B5EF4-FFF2-40B4-BE49-F238E27FC236}">
                <a16:creationId xmlns:a16="http://schemas.microsoft.com/office/drawing/2014/main" id="{A25CB44F-E569-4A01-AA6F-54BF7E8B6A4E}"/>
              </a:ext>
            </a:extLst>
          </p:cNvPr>
          <p:cNvSpPr>
            <a:spLocks noGrp="1"/>
          </p:cNvSpPr>
          <p:nvPr/>
        </p:nvSpPr>
        <p:spPr>
          <a:xfrm>
            <a:off x="561975" y="3038475"/>
            <a:ext cx="110490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F4F3ED"/>
                </a:solidFill>
                <a:latin typeface="Arial"/>
                <a:ea typeface="Arial"/>
                <a:cs typeface="Arial"/>
              </a:rPr>
              <a:t>Risk-based Conditional Access requires </a:t>
            </a:r>
            <a:r>
              <a:rPr sz="2475" b="1" i="0">
                <a:solidFill>
                  <a:srgbClr val="D9FF43"/>
                </a:solidFill>
                <a:latin typeface="Arial"/>
                <a:ea typeface="Arial"/>
                <a:cs typeface="Arial"/>
              </a:rPr>
              <a:t>Entra ID P2 licenses</a:t>
            </a:r>
          </a:p>
        </p:txBody>
      </p:sp>
      <p:sp>
        <p:nvSpPr>
          <p:cNvPr id="4" name="content-16-4">
            <a:extLst>
              <a:ext uri="{FF2B5EF4-FFF2-40B4-BE49-F238E27FC236}">
                <a16:creationId xmlns:a16="http://schemas.microsoft.com/office/drawing/2014/main" id="{909C3D98-0190-4E20-8B39-2DB7A81A64AC}"/>
              </a:ext>
            </a:extLst>
          </p:cNvPr>
          <p:cNvSpPr>
            <a:spLocks noGrp="1"/>
          </p:cNvSpPr>
          <p:nvPr/>
        </p:nvSpPr>
        <p:spPr>
          <a:xfrm>
            <a:off x="561975" y="4295775"/>
            <a:ext cx="11049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F4F3ED"/>
                </a:solidFill>
                <a:latin typeface="Arial"/>
                <a:ea typeface="Arial"/>
                <a:cs typeface="Arial"/>
              </a:rPr>
              <a:t>Conditional access is like checking a user’s badge at the front door. It doesn’t check to see if the people already inside are swapping badges</a:t>
            </a:r>
          </a:p>
        </p:txBody>
      </p:sp>
      <p:sp>
        <p:nvSpPr>
          <p:cNvPr id="5" name="page-field-16">
            <a:extLst>
              <a:ext uri="{FF2B5EF4-FFF2-40B4-BE49-F238E27FC236}">
                <a16:creationId xmlns:a16="http://schemas.microsoft.com/office/drawing/2014/main" id="{C0A53433-F333-4753-9E7C-A4A733C3E655}"/>
              </a:ext>
            </a:extLst>
          </p:cNvPr>
          <p:cNvSpPr>
            <a:spLocks noGrp="1"/>
          </p:cNvSpPr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D9FF4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content-16-5">
            <a:extLst>
              <a:ext uri="{FF2B5EF4-FFF2-40B4-BE49-F238E27FC236}">
                <a16:creationId xmlns:a16="http://schemas.microsoft.com/office/drawing/2014/main" id="{A9AE25E9-1B39-497D-BDCB-B7AC55BF5AE4}"/>
              </a:ext>
            </a:extLst>
          </p:cNvPr>
          <p:cNvSpPr>
            <a:spLocks noGrp="1"/>
          </p:cNvSpPr>
          <p:nvPr/>
        </p:nvSpPr>
        <p:spPr>
          <a:xfrm>
            <a:off x="561975" y="6305550"/>
            <a:ext cx="11049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20F"/>
                </a:solidFill>
                <a:latin typeface="Arial"/>
                <a:ea typeface="Arial"/>
                <a:cs typeface="Arial"/>
              </a:rPr>
              <a:t>MAKE SURE YOU HAVE BREAK GLASS ACCOUNTS</a:t>
            </a:r>
          </a:p>
        </p:txBody>
      </p:sp>
    </p:spTree>
    <p:extLst>
      <p:ext uri="{BB962C8B-B14F-4D97-AF65-F5344CB8AC3E}">
        <p14:creationId xmlns:p14="http://schemas.microsoft.com/office/powerpoint/2010/main" val="1958470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-17-1">
            <a:extLst>
              <a:ext uri="{FF2B5EF4-FFF2-40B4-BE49-F238E27FC236}">
                <a16:creationId xmlns:a16="http://schemas.microsoft.com/office/drawing/2014/main" id="{B04439F6-D494-4564-BA54-4C42299D51E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666B6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B61"/>
                </a:solidFill>
                <a:latin typeface="Arial"/>
                <a:ea typeface="Arial"/>
                <a:cs typeface="Arial"/>
              </a:rPr>
              <a:t>Hardening 365gainst Identity-Driven Attacks</a:t>
            </a:r>
          </a:p>
        </p:txBody>
      </p:sp>
      <p:sp>
        <p:nvSpPr>
          <p:cNvPr id="2" name="content-17-2">
            <a:extLst>
              <a:ext uri="{FF2B5EF4-FFF2-40B4-BE49-F238E27FC236}">
                <a16:creationId xmlns:a16="http://schemas.microsoft.com/office/drawing/2014/main" id="{5D53C034-EACC-4951-BC17-39C6CCCFC5B9}"/>
              </a:ext>
            </a:extLst>
          </p:cNvPr>
          <p:cNvSpPr>
            <a:spLocks noGrp="1"/>
          </p:cNvSpPr>
          <p:nvPr/>
        </p:nvSpPr>
        <p:spPr>
          <a:xfrm>
            <a:off x="638175" y="1290638"/>
            <a:ext cx="1114425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60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CONDITIONAL ACCESS -</a:t>
            </a:r>
          </a:p>
          <a:p>
            <a:pPr algn="l">
              <a:defRPr sz="360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60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TECHNICAL LIMITATIONS</a:t>
            </a:r>
          </a:p>
        </p:txBody>
      </p:sp>
      <p:sp>
        <p:nvSpPr>
          <p:cNvPr id="3" name="content-17-3">
            <a:extLst>
              <a:ext uri="{FF2B5EF4-FFF2-40B4-BE49-F238E27FC236}">
                <a16:creationId xmlns:a16="http://schemas.microsoft.com/office/drawing/2014/main" id="{814B9025-18F7-405C-BA5C-0AFCEDCA5BC1}"/>
              </a:ext>
            </a:extLst>
          </p:cNvPr>
          <p:cNvSpPr>
            <a:spLocks noGrp="1"/>
          </p:cNvSpPr>
          <p:nvPr/>
        </p:nvSpPr>
        <p:spPr>
          <a:xfrm>
            <a:off x="657225" y="2552700"/>
            <a:ext cx="108966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Risk Detection Bypasses during </a:t>
            </a:r>
            <a:r>
              <a:rPr sz="2400" b="1" i="0" dirty="0" err="1">
                <a:solidFill>
                  <a:srgbClr val="10120F"/>
                </a:solidFill>
                <a:latin typeface="Arial"/>
                <a:ea typeface="Arial"/>
                <a:cs typeface="Arial"/>
              </a:rPr>
              <a:t>AiTM</a:t>
            </a:r>
            <a:r>
              <a:rPr sz="2400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 and Device Code Phishing</a:t>
            </a:r>
          </a:p>
        </p:txBody>
      </p:sp>
      <p:sp>
        <p:nvSpPr>
          <p:cNvPr id="4" name="text-divider-17">
            <a:extLst>
              <a:ext uri="{FF2B5EF4-FFF2-40B4-BE49-F238E27FC236}">
                <a16:creationId xmlns:a16="http://schemas.microsoft.com/office/drawing/2014/main" id="{40529F8E-2CF5-4C1A-9937-D6085B9EC220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1049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content-17-4">
            <a:extLst>
              <a:ext uri="{FF2B5EF4-FFF2-40B4-BE49-F238E27FC236}">
                <a16:creationId xmlns:a16="http://schemas.microsoft.com/office/drawing/2014/main" id="{42D78295-F969-4DF0-B09B-56450E105E07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0120F"/>
                </a:solidFill>
                <a:latin typeface="Arial"/>
                <a:ea typeface="Arial"/>
                <a:cs typeface="Arial"/>
              </a:rPr>
              <a:t>IPv6 + Obfuscated Location and Device Properties</a:t>
            </a:r>
          </a:p>
        </p:txBody>
      </p:sp>
      <p:sp>
        <p:nvSpPr>
          <p:cNvPr id="6" name="text-divider-17">
            <a:extLst>
              <a:ext uri="{FF2B5EF4-FFF2-40B4-BE49-F238E27FC236}">
                <a16:creationId xmlns:a16="http://schemas.microsoft.com/office/drawing/2014/main" id="{5049849B-F6CB-4D56-9355-23DE3994B6C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11049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content-17-5">
            <a:extLst>
              <a:ext uri="{FF2B5EF4-FFF2-40B4-BE49-F238E27FC236}">
                <a16:creationId xmlns:a16="http://schemas.microsoft.com/office/drawing/2014/main" id="{A0451082-0D98-413F-BE27-23919104EE62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0120F"/>
                </a:solidFill>
                <a:latin typeface="Arial"/>
                <a:ea typeface="Arial"/>
                <a:cs typeface="Arial"/>
              </a:rPr>
              <a:t>Signal and indicator reliability (IP Geolocation)</a:t>
            </a:r>
          </a:p>
        </p:txBody>
      </p:sp>
      <p:sp>
        <p:nvSpPr>
          <p:cNvPr id="8" name="text-divider-17">
            <a:extLst>
              <a:ext uri="{FF2B5EF4-FFF2-40B4-BE49-F238E27FC236}">
                <a16:creationId xmlns:a16="http://schemas.microsoft.com/office/drawing/2014/main" id="{410FF31C-0E82-488F-833B-D96BC71A0D15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11049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content-17-6">
            <a:extLst>
              <a:ext uri="{FF2B5EF4-FFF2-40B4-BE49-F238E27FC236}">
                <a16:creationId xmlns:a16="http://schemas.microsoft.com/office/drawing/2014/main" id="{B74C3635-DFFB-41F6-A799-F8A54DD6D889}"/>
              </a:ext>
            </a:extLst>
          </p:cNvPr>
          <p:cNvSpPr>
            <a:spLocks noGrp="1"/>
          </p:cNvSpPr>
          <p:nvPr/>
        </p:nvSpPr>
        <p:spPr>
          <a:xfrm>
            <a:off x="609600" y="5172075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0120F"/>
                </a:solidFill>
                <a:latin typeface="Arial"/>
                <a:ea typeface="Arial"/>
                <a:cs typeface="Arial"/>
              </a:rPr>
              <a:t>Timing</a:t>
            </a:r>
          </a:p>
        </p:txBody>
      </p:sp>
    </p:spTree>
    <p:extLst>
      <p:ext uri="{BB962C8B-B14F-4D97-AF65-F5344CB8AC3E}">
        <p14:creationId xmlns:p14="http://schemas.microsoft.com/office/powerpoint/2010/main" val="1872366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-18-1">
            <a:extLst>
              <a:ext uri="{FF2B5EF4-FFF2-40B4-BE49-F238E27FC236}">
                <a16:creationId xmlns:a16="http://schemas.microsoft.com/office/drawing/2014/main" id="{03A0E695-8781-47CB-A33E-BDB6F011E52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666B6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B61"/>
                </a:solidFill>
                <a:latin typeface="Arial"/>
                <a:ea typeface="Arial"/>
                <a:cs typeface="Arial"/>
              </a:rPr>
              <a:t>Hardening 365 Against Identity-Driven Attacks</a:t>
            </a:r>
          </a:p>
        </p:txBody>
      </p:sp>
      <p:sp>
        <p:nvSpPr>
          <p:cNvPr id="2" name="content-18-2">
            <a:extLst>
              <a:ext uri="{FF2B5EF4-FFF2-40B4-BE49-F238E27FC236}">
                <a16:creationId xmlns:a16="http://schemas.microsoft.com/office/drawing/2014/main" id="{10C7075A-155A-4123-B93E-2FE926302CD7}"/>
              </a:ext>
            </a:extLst>
          </p:cNvPr>
          <p:cNvSpPr>
            <a:spLocks noGrp="1"/>
          </p:cNvSpPr>
          <p:nvPr/>
        </p:nvSpPr>
        <p:spPr>
          <a:xfrm>
            <a:off x="762000" y="1152525"/>
            <a:ext cx="1114425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60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CONDITIONAL ACCESS -</a:t>
            </a:r>
          </a:p>
          <a:p>
            <a:pPr algn="l">
              <a:defRPr sz="360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60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TECHNICAL LIMITATIONS</a:t>
            </a:r>
          </a:p>
        </p:txBody>
      </p:sp>
      <p:sp>
        <p:nvSpPr>
          <p:cNvPr id="3" name="content-18-3">
            <a:extLst>
              <a:ext uri="{FF2B5EF4-FFF2-40B4-BE49-F238E27FC236}">
                <a16:creationId xmlns:a16="http://schemas.microsoft.com/office/drawing/2014/main" id="{39C84D1B-52DC-4106-81B9-EF47FDB0CE2D}"/>
              </a:ext>
            </a:extLst>
          </p:cNvPr>
          <p:cNvSpPr>
            <a:spLocks noGrp="1"/>
          </p:cNvSpPr>
          <p:nvPr/>
        </p:nvSpPr>
        <p:spPr>
          <a:xfrm>
            <a:off x="857250" y="2419350"/>
            <a:ext cx="11049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250" b="0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IPv6 + Obfuscated Location and Device Properties</a:t>
            </a:r>
          </a:p>
        </p:txBody>
      </p:sp>
      <p:sp>
        <p:nvSpPr>
          <p:cNvPr id="4" name="content-18-4">
            <a:extLst>
              <a:ext uri="{FF2B5EF4-FFF2-40B4-BE49-F238E27FC236}">
                <a16:creationId xmlns:a16="http://schemas.microsoft.com/office/drawing/2014/main" id="{35CF4C33-D5F6-4F37-8BB1-A2932E61475C}"/>
              </a:ext>
            </a:extLst>
          </p:cNvPr>
          <p:cNvSpPr>
            <a:spLocks noGrp="1"/>
          </p:cNvSpPr>
          <p:nvPr/>
        </p:nvSpPr>
        <p:spPr>
          <a:xfrm>
            <a:off x="762000" y="3975010"/>
            <a:ext cx="106680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075" b="0" i="0">
                <a:solidFill>
                  <a:srgbClr val="666B61"/>
                </a:solidFill>
                <a:latin typeface="Arial"/>
                <a:ea typeface="Arial"/>
                <a:cs typeface="Arial"/>
              </a:defRPr>
            </a:pPr>
            <a:r>
              <a:rPr sz="3075" b="0" i="0" dirty="0">
                <a:solidFill>
                  <a:srgbClr val="666B61"/>
                </a:solidFill>
                <a:latin typeface="Arial"/>
                <a:ea typeface="Arial"/>
                <a:cs typeface="Arial"/>
              </a:rPr>
              <a:t>ADD EVENT LOG SCREENSHOTS</a:t>
            </a:r>
          </a:p>
        </p:txBody>
      </p:sp>
    </p:spTree>
    <p:extLst>
      <p:ext uri="{BB962C8B-B14F-4D97-AF65-F5344CB8AC3E}">
        <p14:creationId xmlns:p14="http://schemas.microsoft.com/office/powerpoint/2010/main" val="862458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-19-1">
            <a:extLst>
              <a:ext uri="{FF2B5EF4-FFF2-40B4-BE49-F238E27FC236}">
                <a16:creationId xmlns:a16="http://schemas.microsoft.com/office/drawing/2014/main" id="{F5E21F5B-4219-4373-9B99-95F7BE61EF98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B7BDB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B7BDB2"/>
                </a:solidFill>
                <a:latin typeface="Arial"/>
                <a:ea typeface="Arial"/>
                <a:cs typeface="Arial"/>
              </a:rPr>
              <a:t>Hardening 365 Against Identity-Driven Attacks</a:t>
            </a:r>
          </a:p>
        </p:txBody>
      </p:sp>
      <p:sp>
        <p:nvSpPr>
          <p:cNvPr id="2" name="content-19-2">
            <a:extLst>
              <a:ext uri="{FF2B5EF4-FFF2-40B4-BE49-F238E27FC236}">
                <a16:creationId xmlns:a16="http://schemas.microsoft.com/office/drawing/2014/main" id="{63888354-CA62-47F4-8DE1-1E62EFEFBCF4}"/>
              </a:ext>
            </a:extLst>
          </p:cNvPr>
          <p:cNvSpPr>
            <a:spLocks noGrp="1"/>
          </p:cNvSpPr>
          <p:nvPr/>
        </p:nvSpPr>
        <p:spPr>
          <a:xfrm>
            <a:off x="647700" y="923925"/>
            <a:ext cx="5267325" cy="1838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950" b="0" i="0">
                <a:solidFill>
                  <a:srgbClr val="D9FF43"/>
                </a:solidFill>
                <a:latin typeface="Arial Black"/>
                <a:ea typeface="Arial Black"/>
                <a:cs typeface="Arial Black"/>
              </a:defRPr>
            </a:pPr>
            <a:r>
              <a:rPr sz="4950" b="0" i="0" dirty="0">
                <a:solidFill>
                  <a:srgbClr val="D9FF43"/>
                </a:solidFill>
                <a:latin typeface="Arial Black"/>
                <a:ea typeface="Arial Black"/>
                <a:cs typeface="Arial Black"/>
              </a:rPr>
              <a:t>FIDO2 /</a:t>
            </a:r>
          </a:p>
          <a:p>
            <a:pPr algn="l">
              <a:defRPr sz="4950" b="0" i="0">
                <a:solidFill>
                  <a:srgbClr val="D9FF43"/>
                </a:solidFill>
                <a:latin typeface="Arial Black"/>
                <a:ea typeface="Arial Black"/>
                <a:cs typeface="Arial Black"/>
              </a:defRPr>
            </a:pPr>
            <a:r>
              <a:rPr sz="4950" b="0" i="0" dirty="0">
                <a:solidFill>
                  <a:srgbClr val="D9FF43"/>
                </a:solidFill>
                <a:latin typeface="Arial Black"/>
                <a:ea typeface="Arial Black"/>
                <a:cs typeface="Arial Black"/>
              </a:rPr>
              <a:t>PASSKEYS</a:t>
            </a:r>
          </a:p>
        </p:txBody>
      </p:sp>
      <p:sp>
        <p:nvSpPr>
          <p:cNvPr id="3" name="content-19-3">
            <a:extLst>
              <a:ext uri="{FF2B5EF4-FFF2-40B4-BE49-F238E27FC236}">
                <a16:creationId xmlns:a16="http://schemas.microsoft.com/office/drawing/2014/main" id="{05188D33-19BF-4A8E-B062-CAA19DE2EBCF}"/>
              </a:ext>
            </a:extLst>
          </p:cNvPr>
          <p:cNvSpPr>
            <a:spLocks noGrp="1"/>
          </p:cNvSpPr>
          <p:nvPr/>
        </p:nvSpPr>
        <p:spPr>
          <a:xfrm>
            <a:off x="6353175" y="933450"/>
            <a:ext cx="5305425" cy="1971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47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Conditional Access Policies can also be used to enforce phishing-resistant authentication methods such as passkeys</a:t>
            </a:r>
          </a:p>
        </p:txBody>
      </p:sp>
      <p:sp>
        <p:nvSpPr>
          <p:cNvPr id="4" name="content-19-4">
            <a:extLst>
              <a:ext uri="{FF2B5EF4-FFF2-40B4-BE49-F238E27FC236}">
                <a16:creationId xmlns:a16="http://schemas.microsoft.com/office/drawing/2014/main" id="{F2F25102-8C70-48EC-A944-E1D6502FE1BF}"/>
              </a:ext>
            </a:extLst>
          </p:cNvPr>
          <p:cNvSpPr>
            <a:spLocks noGrp="1"/>
          </p:cNvSpPr>
          <p:nvPr/>
        </p:nvSpPr>
        <p:spPr>
          <a:xfrm>
            <a:off x="533400" y="3181351"/>
            <a:ext cx="103251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Passkeys require physical proximity,</a:t>
            </a:r>
          </a:p>
          <a:p>
            <a:pPr algn="ctr">
              <a:defRPr sz="2400" b="1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which breaks </a:t>
            </a:r>
            <a:r>
              <a:rPr sz="2400" b="1" i="0" dirty="0" err="1">
                <a:solidFill>
                  <a:srgbClr val="F4F3ED"/>
                </a:solidFill>
                <a:latin typeface="Arial"/>
                <a:ea typeface="Arial"/>
                <a:cs typeface="Arial"/>
              </a:rPr>
              <a:t>AiTM</a:t>
            </a:r>
            <a:r>
              <a:rPr sz="2400" b="1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 attacks.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rcRect l="29375" t="70926" r="6979" b="10185"/>
          <a:stretch/>
        </p:blipFill>
        <p:spPr>
          <a:xfrm>
            <a:off x="1371600" y="4538663"/>
            <a:ext cx="90868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05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FF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-20-1">
            <a:extLst>
              <a:ext uri="{FF2B5EF4-FFF2-40B4-BE49-F238E27FC236}">
                <a16:creationId xmlns:a16="http://schemas.microsoft.com/office/drawing/2014/main" id="{98803347-911C-4F31-A42C-26B043836A7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666B6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B61"/>
                </a:solidFill>
                <a:latin typeface="Arial"/>
                <a:ea typeface="Arial"/>
                <a:cs typeface="Arial"/>
              </a:rPr>
              <a:t>Hardening 365 Against Identity-Driven Attacks</a:t>
            </a:r>
          </a:p>
        </p:txBody>
      </p:sp>
      <p:sp>
        <p:nvSpPr>
          <p:cNvPr id="3" name="content-20-2">
            <a:extLst>
              <a:ext uri="{FF2B5EF4-FFF2-40B4-BE49-F238E27FC236}">
                <a16:creationId xmlns:a16="http://schemas.microsoft.com/office/drawing/2014/main" id="{3AE8EBAE-E095-42BC-8101-CB24B1256C5C}"/>
              </a:ext>
            </a:extLst>
          </p:cNvPr>
          <p:cNvSpPr>
            <a:spLocks noGrp="1"/>
          </p:cNvSpPr>
          <p:nvPr/>
        </p:nvSpPr>
        <p:spPr>
          <a:xfrm>
            <a:off x="2495550" y="1905000"/>
            <a:ext cx="72009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20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420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FIDO2 /</a:t>
            </a:r>
          </a:p>
          <a:p>
            <a:pPr algn="ctr">
              <a:defRPr sz="420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420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PASSKEYS</a:t>
            </a:r>
          </a:p>
        </p:txBody>
      </p:sp>
      <p:sp>
        <p:nvSpPr>
          <p:cNvPr id="4" name="content-20-3">
            <a:extLst>
              <a:ext uri="{FF2B5EF4-FFF2-40B4-BE49-F238E27FC236}">
                <a16:creationId xmlns:a16="http://schemas.microsoft.com/office/drawing/2014/main" id="{1F0A3C7D-8D4B-4396-A89C-F20A3B6DE8D3}"/>
              </a:ext>
            </a:extLst>
          </p:cNvPr>
          <p:cNvSpPr>
            <a:spLocks noGrp="1"/>
          </p:cNvSpPr>
          <p:nvPr/>
        </p:nvSpPr>
        <p:spPr>
          <a:xfrm>
            <a:off x="2495550" y="3105150"/>
            <a:ext cx="7191375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87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4875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VS. AITM</a:t>
            </a:r>
          </a:p>
        </p:txBody>
      </p:sp>
      <p:sp>
        <p:nvSpPr>
          <p:cNvPr id="5" name="content-20-4">
            <a:extLst>
              <a:ext uri="{FF2B5EF4-FFF2-40B4-BE49-F238E27FC236}">
                <a16:creationId xmlns:a16="http://schemas.microsoft.com/office/drawing/2014/main" id="{EF5BA2F0-3ECE-4FE0-B151-5708E288E3A4}"/>
              </a:ext>
            </a:extLst>
          </p:cNvPr>
          <p:cNvSpPr>
            <a:spLocks noGrp="1"/>
          </p:cNvSpPr>
          <p:nvPr/>
        </p:nvSpPr>
        <p:spPr>
          <a:xfrm>
            <a:off x="2476500" y="3781425"/>
            <a:ext cx="7210425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17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8175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[DEMO]</a:t>
            </a:r>
          </a:p>
        </p:txBody>
      </p:sp>
    </p:spTree>
    <p:extLst>
      <p:ext uri="{BB962C8B-B14F-4D97-AF65-F5344CB8AC3E}">
        <p14:creationId xmlns:p14="http://schemas.microsoft.com/office/powerpoint/2010/main" val="1146002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-21-1">
            <a:extLst>
              <a:ext uri="{FF2B5EF4-FFF2-40B4-BE49-F238E27FC236}">
                <a16:creationId xmlns:a16="http://schemas.microsoft.com/office/drawing/2014/main" id="{5DC1F9A5-E76A-4D1D-B1A5-FC98408FFA44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666B6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B61"/>
                </a:solidFill>
                <a:latin typeface="Arial"/>
                <a:ea typeface="Arial"/>
                <a:cs typeface="Arial"/>
              </a:rPr>
              <a:t>Hardening 365 Against Identity-Driven Attacks</a:t>
            </a:r>
          </a:p>
        </p:txBody>
      </p:sp>
      <p:sp>
        <p:nvSpPr>
          <p:cNvPr id="2" name="content-21-2">
            <a:extLst>
              <a:ext uri="{FF2B5EF4-FFF2-40B4-BE49-F238E27FC236}">
                <a16:creationId xmlns:a16="http://schemas.microsoft.com/office/drawing/2014/main" id="{CBB53686-BA01-448D-A2E7-0D529E214B70}"/>
              </a:ext>
            </a:extLst>
          </p:cNvPr>
          <p:cNvSpPr>
            <a:spLocks noGrp="1"/>
          </p:cNvSpPr>
          <p:nvPr/>
        </p:nvSpPr>
        <p:spPr>
          <a:xfrm>
            <a:off x="647700" y="1493681"/>
            <a:ext cx="5162550" cy="1590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5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405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FIDO2 /</a:t>
            </a:r>
          </a:p>
          <a:p>
            <a:pPr algn="l">
              <a:defRPr sz="405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4050" b="0" i="0" dirty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PASSKEYS</a:t>
            </a:r>
          </a:p>
        </p:txBody>
      </p:sp>
      <p:sp>
        <p:nvSpPr>
          <p:cNvPr id="3" name="content-21-3">
            <a:extLst>
              <a:ext uri="{FF2B5EF4-FFF2-40B4-BE49-F238E27FC236}">
                <a16:creationId xmlns:a16="http://schemas.microsoft.com/office/drawing/2014/main" id="{DC1A5E7E-4B98-4003-9138-11AB3706AC83}"/>
              </a:ext>
            </a:extLst>
          </p:cNvPr>
          <p:cNvSpPr>
            <a:spLocks noGrp="1"/>
          </p:cNvSpPr>
          <p:nvPr/>
        </p:nvSpPr>
        <p:spPr>
          <a:xfrm>
            <a:off x="647700" y="2997424"/>
            <a:ext cx="5019675" cy="2781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250" b="0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Always require an additional authentication method (MFA, TAP, location, domain joined device) for self service portals such as Microsoft’s Security Info page.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44792" t="16852" r="11771" b="6667"/>
          <a:stretch/>
        </p:blipFill>
        <p:spPr>
          <a:xfrm>
            <a:off x="6286500" y="1200150"/>
            <a:ext cx="52578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14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-23-1">
            <a:extLst>
              <a:ext uri="{FF2B5EF4-FFF2-40B4-BE49-F238E27FC236}">
                <a16:creationId xmlns:a16="http://schemas.microsoft.com/office/drawing/2014/main" id="{D524F292-7B48-4B95-9F31-9BAFE11D23A0}"/>
              </a:ext>
            </a:extLst>
          </p:cNvPr>
          <p:cNvSpPr>
            <a:spLocks noGrp="1"/>
          </p:cNvSpPr>
          <p:nvPr/>
        </p:nvSpPr>
        <p:spPr>
          <a:xfrm>
            <a:off x="495300" y="552450"/>
            <a:ext cx="1118235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02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502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THE GOOD NEWS</a:t>
            </a:r>
          </a:p>
        </p:txBody>
      </p:sp>
      <p:sp>
        <p:nvSpPr>
          <p:cNvPr id="2" name="text-divider-23">
            <a:extLst>
              <a:ext uri="{FF2B5EF4-FFF2-40B4-BE49-F238E27FC236}">
                <a16:creationId xmlns:a16="http://schemas.microsoft.com/office/drawing/2014/main" id="{96BE1135-DF1D-44DA-8309-D12083E66D18}"/>
              </a:ext>
            </a:extLst>
          </p:cNvPr>
          <p:cNvSpPr>
            <a:spLocks noGrp="1"/>
          </p:cNvSpPr>
          <p:nvPr/>
        </p:nvSpPr>
        <p:spPr>
          <a:xfrm>
            <a:off x="561975" y="1723086"/>
            <a:ext cx="11049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-23-2">
            <a:extLst>
              <a:ext uri="{FF2B5EF4-FFF2-40B4-BE49-F238E27FC236}">
                <a16:creationId xmlns:a16="http://schemas.microsoft.com/office/drawing/2014/main" id="{E88ABFAA-DDCC-4147-B54B-EC65868E1C84}"/>
              </a:ext>
            </a:extLst>
          </p:cNvPr>
          <p:cNvSpPr>
            <a:spLocks noGrp="1"/>
          </p:cNvSpPr>
          <p:nvPr/>
        </p:nvSpPr>
        <p:spPr>
          <a:xfrm>
            <a:off x="576262" y="2038350"/>
            <a:ext cx="11020425" cy="1228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325" b="0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Microsoft built a policy to block device code flow sign-ins</a:t>
            </a:r>
          </a:p>
          <a:p>
            <a:pPr algn="l">
              <a:defRPr sz="2325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All you have to do is enable it!</a:t>
            </a:r>
          </a:p>
        </p:txBody>
      </p:sp>
      <p:sp>
        <p:nvSpPr>
          <p:cNvPr id="4" name="text-divider-23">
            <a:extLst>
              <a:ext uri="{FF2B5EF4-FFF2-40B4-BE49-F238E27FC236}">
                <a16:creationId xmlns:a16="http://schemas.microsoft.com/office/drawing/2014/main" id="{9FB79673-703A-47CB-801F-6EA997BADCD6}"/>
              </a:ext>
            </a:extLst>
          </p:cNvPr>
          <p:cNvSpPr>
            <a:spLocks noGrp="1"/>
          </p:cNvSpPr>
          <p:nvPr/>
        </p:nvSpPr>
        <p:spPr>
          <a:xfrm>
            <a:off x="561975" y="3161361"/>
            <a:ext cx="11049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content-23-3">
            <a:extLst>
              <a:ext uri="{FF2B5EF4-FFF2-40B4-BE49-F238E27FC236}">
                <a16:creationId xmlns:a16="http://schemas.microsoft.com/office/drawing/2014/main" id="{628B5034-20E4-48C5-9FD3-FE43539FF526}"/>
              </a:ext>
            </a:extLst>
          </p:cNvPr>
          <p:cNvSpPr>
            <a:spLocks noGrp="1"/>
          </p:cNvSpPr>
          <p:nvPr/>
        </p:nvSpPr>
        <p:spPr>
          <a:xfrm>
            <a:off x="561975" y="3476625"/>
            <a:ext cx="11020425" cy="1228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In September</a:t>
            </a:r>
            <a:r>
              <a:rPr sz="2325" b="0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, Microsoft moved towards making Passkeys the default sign-in method for all Entra tenants</a:t>
            </a:r>
          </a:p>
        </p:txBody>
      </p:sp>
      <p:sp>
        <p:nvSpPr>
          <p:cNvPr id="6" name="text-divider-23">
            <a:extLst>
              <a:ext uri="{FF2B5EF4-FFF2-40B4-BE49-F238E27FC236}">
                <a16:creationId xmlns:a16="http://schemas.microsoft.com/office/drawing/2014/main" id="{C87A5478-87B0-4E97-9C69-B5E23B9AAACF}"/>
              </a:ext>
            </a:extLst>
          </p:cNvPr>
          <p:cNvSpPr>
            <a:spLocks noGrp="1"/>
          </p:cNvSpPr>
          <p:nvPr/>
        </p:nvSpPr>
        <p:spPr>
          <a:xfrm>
            <a:off x="561975" y="4599636"/>
            <a:ext cx="1104900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content-23-4">
            <a:extLst>
              <a:ext uri="{FF2B5EF4-FFF2-40B4-BE49-F238E27FC236}">
                <a16:creationId xmlns:a16="http://schemas.microsoft.com/office/drawing/2014/main" id="{213EF00B-9328-43DC-990D-81C05BB9B747}"/>
              </a:ext>
            </a:extLst>
          </p:cNvPr>
          <p:cNvSpPr>
            <a:spLocks noGrp="1"/>
          </p:cNvSpPr>
          <p:nvPr/>
        </p:nvSpPr>
        <p:spPr>
          <a:xfrm>
            <a:off x="576261" y="4762500"/>
            <a:ext cx="11020425" cy="1543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 i="0">
                <a:solidFill>
                  <a:srgbClr val="10120F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By February 1st</a:t>
            </a:r>
            <a:r>
              <a:rPr sz="2325" b="0" i="0" dirty="0">
                <a:solidFill>
                  <a:srgbClr val="10120F"/>
                </a:solidFill>
                <a:latin typeface="Arial"/>
                <a:ea typeface="Arial"/>
                <a:cs typeface="Arial"/>
              </a:rPr>
              <a:t>, SMS and Voice methods for MFA will be minimally supported in Entra. Work towards moving these users to a more secure authentication method.</a:t>
            </a:r>
          </a:p>
        </p:txBody>
      </p:sp>
    </p:spTree>
    <p:extLst>
      <p:ext uri="{BB962C8B-B14F-4D97-AF65-F5344CB8AC3E}">
        <p14:creationId xmlns:p14="http://schemas.microsoft.com/office/powerpoint/2010/main" val="306796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-24-1">
            <a:extLst>
              <a:ext uri="{FF2B5EF4-FFF2-40B4-BE49-F238E27FC236}">
                <a16:creationId xmlns:a16="http://schemas.microsoft.com/office/drawing/2014/main" id="{67C6B5D4-1379-4DB1-BF53-60F3B92710EA}"/>
              </a:ext>
            </a:extLst>
          </p:cNvPr>
          <p:cNvSpPr>
            <a:spLocks noGrp="1"/>
          </p:cNvSpPr>
          <p:nvPr/>
        </p:nvSpPr>
        <p:spPr>
          <a:xfrm>
            <a:off x="542925" y="1000125"/>
            <a:ext cx="5657850" cy="2028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725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4725" b="0" i="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[PASS]KEY</a:t>
            </a:r>
          </a:p>
          <a:p>
            <a:pPr algn="l">
              <a:defRPr sz="4725" b="0" i="0">
                <a:solidFill>
                  <a:srgbClr val="F4F3ED"/>
                </a:solidFill>
                <a:latin typeface="Arial Black"/>
                <a:ea typeface="Arial Black"/>
                <a:cs typeface="Arial Black"/>
              </a:defRPr>
            </a:pPr>
            <a:r>
              <a:rPr sz="4725" b="0" i="0" dirty="0">
                <a:solidFill>
                  <a:srgbClr val="F4F3ED"/>
                </a:solidFill>
                <a:latin typeface="Arial Black"/>
                <a:ea typeface="Arial Black"/>
                <a:cs typeface="Arial Black"/>
              </a:rPr>
              <a:t>TAKEAWAYS</a:t>
            </a:r>
          </a:p>
        </p:txBody>
      </p:sp>
      <p:sp>
        <p:nvSpPr>
          <p:cNvPr id="2" name="content-24-2">
            <a:extLst>
              <a:ext uri="{FF2B5EF4-FFF2-40B4-BE49-F238E27FC236}">
                <a16:creationId xmlns:a16="http://schemas.microsoft.com/office/drawing/2014/main" id="{D0A8A4BA-9186-431C-93DC-D45234360B1B}"/>
              </a:ext>
            </a:extLst>
          </p:cNvPr>
          <p:cNvSpPr>
            <a:spLocks noGrp="1"/>
          </p:cNvSpPr>
          <p:nvPr/>
        </p:nvSpPr>
        <p:spPr>
          <a:xfrm>
            <a:off x="6420521" y="1000125"/>
            <a:ext cx="5048250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32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Identity-driven attacks like </a:t>
            </a:r>
            <a:r>
              <a:rPr sz="2325" b="0" i="0" dirty="0" err="1">
                <a:solidFill>
                  <a:srgbClr val="F4F3ED"/>
                </a:solidFill>
                <a:latin typeface="Arial"/>
                <a:ea typeface="Arial"/>
                <a:cs typeface="Arial"/>
              </a:rPr>
              <a:t>AiTM</a:t>
            </a:r>
            <a:r>
              <a:rPr sz="232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 and Device Code Flow phishing are rising year after year</a:t>
            </a:r>
          </a:p>
        </p:txBody>
      </p:sp>
      <p:sp>
        <p:nvSpPr>
          <p:cNvPr id="3" name="content-24-3">
            <a:extLst>
              <a:ext uri="{FF2B5EF4-FFF2-40B4-BE49-F238E27FC236}">
                <a16:creationId xmlns:a16="http://schemas.microsoft.com/office/drawing/2014/main" id="{73E4B8A7-D20D-4092-8B99-45B17BAF18AE}"/>
              </a:ext>
            </a:extLst>
          </p:cNvPr>
          <p:cNvSpPr>
            <a:spLocks noGrp="1"/>
          </p:cNvSpPr>
          <p:nvPr/>
        </p:nvSpPr>
        <p:spPr>
          <a:xfrm>
            <a:off x="6420521" y="2785325"/>
            <a:ext cx="5048250" cy="1581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 i="0">
                <a:solidFill>
                  <a:srgbClr val="F4F3ED"/>
                </a:solidFill>
                <a:latin typeface="Arial"/>
                <a:ea typeface="Arial"/>
                <a:cs typeface="Arial"/>
              </a:defRPr>
            </a:pPr>
            <a:r>
              <a:rPr sz="232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Conditional Access can help </a:t>
            </a:r>
            <a:r>
              <a:rPr sz="2325" b="1" i="0" dirty="0">
                <a:solidFill>
                  <a:srgbClr val="D9FF43"/>
                </a:solidFill>
                <a:latin typeface="Arial"/>
                <a:ea typeface="Arial"/>
                <a:cs typeface="Arial"/>
              </a:rPr>
              <a:t>detect</a:t>
            </a:r>
            <a:r>
              <a:rPr sz="2325" b="0" i="0" dirty="0">
                <a:solidFill>
                  <a:srgbClr val="F4F3ED"/>
                </a:solidFill>
                <a:latin typeface="Arial"/>
                <a:ea typeface="Arial"/>
                <a:cs typeface="Arial"/>
              </a:rPr>
              <a:t> and respond to risky sign-ins (with limitations)</a:t>
            </a:r>
          </a:p>
        </p:txBody>
      </p:sp>
      <p:sp>
        <p:nvSpPr>
          <p:cNvPr id="4" name="page-field-24">
            <a:extLst>
              <a:ext uri="{FF2B5EF4-FFF2-40B4-BE49-F238E27FC236}">
                <a16:creationId xmlns:a16="http://schemas.microsoft.com/office/drawing/2014/main" id="{34B73BB8-4E7D-4407-BF8F-DD42C8939F01}"/>
              </a:ext>
            </a:extLst>
          </p:cNvPr>
          <p:cNvSpPr>
            <a:spLocks noGrp="1"/>
          </p:cNvSpPr>
          <p:nvPr/>
        </p:nvSpPr>
        <p:spPr>
          <a:xfrm>
            <a:off x="0" y="5286375"/>
            <a:ext cx="12192000" cy="1571625"/>
          </a:xfrm>
          <a:prstGeom prst="rect">
            <a:avLst/>
          </a:prstGeom>
          <a:solidFill>
            <a:srgbClr val="D9FF4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content-24-4">
            <a:extLst>
              <a:ext uri="{FF2B5EF4-FFF2-40B4-BE49-F238E27FC236}">
                <a16:creationId xmlns:a16="http://schemas.microsoft.com/office/drawing/2014/main" id="{3AFDCD46-243F-4C69-9872-519737BD7715}"/>
              </a:ext>
            </a:extLst>
          </p:cNvPr>
          <p:cNvSpPr>
            <a:spLocks noGrp="1"/>
          </p:cNvSpPr>
          <p:nvPr/>
        </p:nvSpPr>
        <p:spPr>
          <a:xfrm>
            <a:off x="542925" y="5762625"/>
            <a:ext cx="1110615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rPr>
              <a:t>Passkeys can help prevent these attacks</a:t>
            </a:r>
          </a:p>
        </p:txBody>
      </p:sp>
    </p:spTree>
    <p:extLst>
      <p:ext uri="{BB962C8B-B14F-4D97-AF65-F5344CB8AC3E}">
        <p14:creationId xmlns:p14="http://schemas.microsoft.com/office/powerpoint/2010/main" val="73667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2694FA-820F-11CE-2E90-39E2B546F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51" b="16428"/>
          <a:stretch>
            <a:fillRect/>
          </a:stretch>
        </p:blipFill>
        <p:spPr>
          <a:xfrm>
            <a:off x="1223961" y="-1"/>
            <a:ext cx="9744077" cy="6858001"/>
          </a:xfrm>
          <a:prstGeom prst="rect">
            <a:avLst/>
          </a:prstGeom>
        </p:spPr>
      </p:pic>
      <p:sp>
        <p:nvSpPr>
          <p:cNvPr id="2" name="content-25-1">
            <a:extLst>
              <a:ext uri="{FF2B5EF4-FFF2-40B4-BE49-F238E27FC236}">
                <a16:creationId xmlns:a16="http://schemas.microsoft.com/office/drawing/2014/main" id="{59AC8572-F6E5-47A8-BEE4-41C51CC95AA1}"/>
              </a:ext>
            </a:extLst>
          </p:cNvPr>
          <p:cNvSpPr>
            <a:spLocks noGrp="1"/>
          </p:cNvSpPr>
          <p:nvPr/>
        </p:nvSpPr>
        <p:spPr>
          <a:xfrm>
            <a:off x="4896386" y="1935855"/>
            <a:ext cx="7295614" cy="20718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100" b="0" i="0">
                <a:solidFill>
                  <a:srgbClr val="10120F"/>
                </a:solidFill>
                <a:latin typeface="Arial Black"/>
                <a:ea typeface="Arial Black"/>
                <a:cs typeface="Arial Black"/>
              </a:defRPr>
            </a:pPr>
            <a:r>
              <a:rPr sz="6000" b="0" i="0" dirty="0">
                <a:solidFill>
                  <a:srgbClr val="E6D9C1"/>
                </a:solidFill>
                <a:latin typeface="Arial Black"/>
                <a:ea typeface="Arial Black"/>
                <a:cs typeface="Arial Black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94414780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1122</Words>
  <Application>Microsoft Macintosh PowerPoint</Application>
  <DocSecurity>0</DocSecurity>
  <PresentationFormat>Widescreen</PresentationFormat>
  <Paragraphs>208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Arial Black</vt:lpstr>
      <vt:lpstr>Calibri</vt:lpstr>
      <vt:lpstr>ChatGPT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 Solo</cp:lastModifiedBy>
  <cp:revision>9</cp:revision>
  <dcterms:created xsi:type="dcterms:W3CDTF">2026-09-19T01:37:42Z</dcterms:created>
  <dcterms:modified xsi:type="dcterms:W3CDTF">2026-09-30T18:23:40Z</dcterms:modified>
</cp:coreProperties>
</file>